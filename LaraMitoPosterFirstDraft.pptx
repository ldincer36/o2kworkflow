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1pPr>
    <a:lvl2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2pPr>
    <a:lvl3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3pPr>
    <a:lvl4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4pPr>
    <a:lvl5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5pPr>
    <a:lvl6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6pPr>
    <a:lvl7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7pPr>
    <a:lvl8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8pPr>
    <a:lvl9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6" name="Shape 66"/>
          <p:cNvSpPr/>
          <p:nvPr>
            <p:ph type="sldImg"/>
          </p:nvPr>
        </p:nvSpPr>
        <p:spPr>
          <a:xfrm>
            <a:off x="1143000" y="685800"/>
            <a:ext cx="4572000" cy="3429000"/>
          </a:xfrm>
          <a:prstGeom prst="rect">
            <a:avLst/>
          </a:prstGeom>
        </p:spPr>
        <p:txBody>
          <a:bodyPr/>
          <a:lstStyle/>
          <a:p>
            <a:pPr/>
          </a:p>
        </p:txBody>
      </p:sp>
      <p:sp>
        <p:nvSpPr>
          <p:cNvPr id="67" name="Shape 6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388899" latinLnBrk="0">
      <a:defRPr sz="5800">
        <a:latin typeface="+mj-lt"/>
        <a:ea typeface="+mj-ea"/>
        <a:cs typeface="+mj-cs"/>
        <a:sym typeface="Calibri"/>
      </a:defRPr>
    </a:lvl1pPr>
    <a:lvl2pPr indent="228600" defTabSz="4388899" latinLnBrk="0">
      <a:defRPr sz="5800">
        <a:latin typeface="+mj-lt"/>
        <a:ea typeface="+mj-ea"/>
        <a:cs typeface="+mj-cs"/>
        <a:sym typeface="Calibri"/>
      </a:defRPr>
    </a:lvl2pPr>
    <a:lvl3pPr indent="457200" defTabSz="4388899" latinLnBrk="0">
      <a:defRPr sz="5800">
        <a:latin typeface="+mj-lt"/>
        <a:ea typeface="+mj-ea"/>
        <a:cs typeface="+mj-cs"/>
        <a:sym typeface="Calibri"/>
      </a:defRPr>
    </a:lvl3pPr>
    <a:lvl4pPr indent="685800" defTabSz="4388899" latinLnBrk="0">
      <a:defRPr sz="5800">
        <a:latin typeface="+mj-lt"/>
        <a:ea typeface="+mj-ea"/>
        <a:cs typeface="+mj-cs"/>
        <a:sym typeface="Calibri"/>
      </a:defRPr>
    </a:lvl4pPr>
    <a:lvl5pPr indent="914400" defTabSz="4388899" latinLnBrk="0">
      <a:defRPr sz="5800">
        <a:latin typeface="+mj-lt"/>
        <a:ea typeface="+mj-ea"/>
        <a:cs typeface="+mj-cs"/>
        <a:sym typeface="Calibri"/>
      </a:defRPr>
    </a:lvl5pPr>
    <a:lvl6pPr indent="1143000" defTabSz="4388899" latinLnBrk="0">
      <a:defRPr sz="5800">
        <a:latin typeface="+mj-lt"/>
        <a:ea typeface="+mj-ea"/>
        <a:cs typeface="+mj-cs"/>
        <a:sym typeface="Calibri"/>
      </a:defRPr>
    </a:lvl6pPr>
    <a:lvl7pPr indent="1371600" defTabSz="4388899" latinLnBrk="0">
      <a:defRPr sz="5800">
        <a:latin typeface="+mj-lt"/>
        <a:ea typeface="+mj-ea"/>
        <a:cs typeface="+mj-cs"/>
        <a:sym typeface="Calibri"/>
      </a:defRPr>
    </a:lvl7pPr>
    <a:lvl8pPr indent="1600200" defTabSz="4388899" latinLnBrk="0">
      <a:defRPr sz="5800">
        <a:latin typeface="+mj-lt"/>
        <a:ea typeface="+mj-ea"/>
        <a:cs typeface="+mj-cs"/>
        <a:sym typeface="Calibri"/>
      </a:defRPr>
    </a:lvl8pPr>
    <a:lvl9pPr indent="1828800" defTabSz="4388899" latinLnBrk="0">
      <a:defRPr sz="58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6x48 template">
    <p:spTree>
      <p:nvGrpSpPr>
        <p:cNvPr id="1" name=""/>
        <p:cNvGrpSpPr/>
        <p:nvPr/>
      </p:nvGrpSpPr>
      <p:grpSpPr>
        <a:xfrm>
          <a:off x="0" y="0"/>
          <a:ext cx="0" cy="0"/>
          <a:chOff x="0" y="0"/>
          <a:chExt cx="0" cy="0"/>
        </a:xfrm>
      </p:grpSpPr>
      <p:sp>
        <p:nvSpPr>
          <p:cNvPr id="18" name="Body Level One…"/>
          <p:cNvSpPr txBox="1"/>
          <p:nvPr>
            <p:ph type="body" sz="quarter" idx="1" hasCustomPrompt="1"/>
          </p:nvPr>
        </p:nvSpPr>
        <p:spPr>
          <a:prstGeom prst="rect">
            <a:avLst/>
          </a:prstGeom>
        </p:spPr>
        <p:txBody>
          <a:bodyPr/>
          <a:lstStyle/>
          <a:p>
            <a:pPr/>
            <a:r>
              <a:t>Type in or paste your text here</a:t>
            </a:r>
          </a:p>
          <a:p>
            <a:pPr lvl="1"/>
            <a:r>
              <a:t/>
            </a:r>
          </a:p>
          <a:p>
            <a:pPr lvl="2"/>
            <a:r>
              <a:t/>
            </a:r>
          </a:p>
          <a:p>
            <a:pPr lvl="3"/>
            <a:r>
              <a:t/>
            </a:r>
          </a:p>
          <a:p>
            <a:pPr lvl="4"/>
            <a:r>
              <a:t/>
            </a:r>
          </a:p>
        </p:txBody>
      </p:sp>
      <p:sp>
        <p:nvSpPr>
          <p:cNvPr id="19" name="Text Placeholder 5"/>
          <p:cNvSpPr/>
          <p:nvPr>
            <p:ph type="body" sz="quarter" idx="21" hasCustomPrompt="1"/>
          </p:nvPr>
        </p:nvSpPr>
        <p:spPr>
          <a:xfrm>
            <a:off x="477826" y="5000109"/>
            <a:ext cx="10048876"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INTRODUCTION or ABSTRACT</a:t>
            </a:r>
          </a:p>
        </p:txBody>
      </p:sp>
      <p:sp>
        <p:nvSpPr>
          <p:cNvPr id="20" name="Text Placeholder 5"/>
          <p:cNvSpPr/>
          <p:nvPr>
            <p:ph type="body" sz="quarter" idx="22" hasCustomPrompt="1"/>
          </p:nvPr>
        </p:nvSpPr>
        <p:spPr>
          <a:xfrm>
            <a:off x="477823" y="13663871"/>
            <a:ext cx="10050466"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OBJECTIVES</a:t>
            </a:r>
          </a:p>
        </p:txBody>
      </p:sp>
      <p:sp>
        <p:nvSpPr>
          <p:cNvPr id="21" name="Text Placeholder 3"/>
          <p:cNvSpPr/>
          <p:nvPr>
            <p:ph type="body" sz="quarter" idx="23" hasCustomPrompt="1"/>
          </p:nvPr>
        </p:nvSpPr>
        <p:spPr>
          <a:xfrm>
            <a:off x="11460160" y="5829841"/>
            <a:ext cx="10048877" cy="738644"/>
          </a:xfrm>
          <a:prstGeom prst="rect">
            <a:avLst/>
          </a:prstGeom>
        </p:spPr>
        <p:txBody>
          <a:bodyPr/>
          <a:lstStyle/>
          <a:p>
            <a:pPr/>
            <a:r>
              <a:t>Type in or paste your text here</a:t>
            </a:r>
          </a:p>
        </p:txBody>
      </p:sp>
      <p:sp>
        <p:nvSpPr>
          <p:cNvPr id="22" name="Text Placeholder 5"/>
          <p:cNvSpPr/>
          <p:nvPr>
            <p:ph type="body" sz="quarter" idx="24" hasCustomPrompt="1"/>
          </p:nvPr>
        </p:nvSpPr>
        <p:spPr>
          <a:xfrm>
            <a:off x="11460161" y="5000109"/>
            <a:ext cx="10048876"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MATERIALS &amp; METHODS</a:t>
            </a:r>
          </a:p>
        </p:txBody>
      </p:sp>
      <p:sp>
        <p:nvSpPr>
          <p:cNvPr id="23" name="Text Placeholder 3"/>
          <p:cNvSpPr/>
          <p:nvPr>
            <p:ph type="body" sz="quarter" idx="25" hasCustomPrompt="1"/>
          </p:nvPr>
        </p:nvSpPr>
        <p:spPr>
          <a:xfrm>
            <a:off x="22385343" y="5829841"/>
            <a:ext cx="10048876" cy="738644"/>
          </a:xfrm>
          <a:prstGeom prst="rect">
            <a:avLst/>
          </a:prstGeom>
        </p:spPr>
        <p:txBody>
          <a:bodyPr/>
          <a:lstStyle/>
          <a:p>
            <a:pPr/>
            <a:r>
              <a:t>Type in or paste your text here</a:t>
            </a:r>
          </a:p>
        </p:txBody>
      </p:sp>
      <p:sp>
        <p:nvSpPr>
          <p:cNvPr id="24" name="Text Placeholder 5"/>
          <p:cNvSpPr/>
          <p:nvPr>
            <p:ph type="body" sz="quarter" idx="26" hasCustomPrompt="1"/>
          </p:nvPr>
        </p:nvSpPr>
        <p:spPr>
          <a:xfrm>
            <a:off x="22377404" y="5000109"/>
            <a:ext cx="10058402"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RESULTS</a:t>
            </a:r>
          </a:p>
        </p:txBody>
      </p:sp>
      <p:sp>
        <p:nvSpPr>
          <p:cNvPr id="25" name="Text Placeholder 5"/>
          <p:cNvSpPr/>
          <p:nvPr>
            <p:ph type="body" sz="quarter" idx="27" hasCustomPrompt="1"/>
          </p:nvPr>
        </p:nvSpPr>
        <p:spPr>
          <a:xfrm>
            <a:off x="33390290" y="5000109"/>
            <a:ext cx="10047021"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CONCLUSIONS</a:t>
            </a:r>
          </a:p>
        </p:txBody>
      </p:sp>
      <p:sp>
        <p:nvSpPr>
          <p:cNvPr id="26" name="Text Placeholder 3"/>
          <p:cNvSpPr/>
          <p:nvPr>
            <p:ph type="body" sz="quarter" idx="28" hasCustomPrompt="1"/>
          </p:nvPr>
        </p:nvSpPr>
        <p:spPr>
          <a:xfrm>
            <a:off x="33390290" y="5829841"/>
            <a:ext cx="10047021" cy="738644"/>
          </a:xfrm>
          <a:prstGeom prst="rect">
            <a:avLst/>
          </a:prstGeom>
        </p:spPr>
        <p:txBody>
          <a:bodyPr/>
          <a:lstStyle/>
          <a:p>
            <a:pPr/>
            <a:r>
              <a:t>Type in or paste your text here</a:t>
            </a:r>
          </a:p>
        </p:txBody>
      </p:sp>
      <p:sp>
        <p:nvSpPr>
          <p:cNvPr id="27" name="Text Placeholder 5"/>
          <p:cNvSpPr/>
          <p:nvPr>
            <p:ph type="body" sz="quarter" idx="29" hasCustomPrompt="1"/>
          </p:nvPr>
        </p:nvSpPr>
        <p:spPr>
          <a:xfrm>
            <a:off x="33390290" y="13724098"/>
            <a:ext cx="10047021"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REFERENCES</a:t>
            </a:r>
          </a:p>
        </p:txBody>
      </p:sp>
      <p:sp>
        <p:nvSpPr>
          <p:cNvPr id="28" name="Text Placeholder 3"/>
          <p:cNvSpPr/>
          <p:nvPr>
            <p:ph type="body" sz="quarter" idx="30" hasCustomPrompt="1"/>
          </p:nvPr>
        </p:nvSpPr>
        <p:spPr>
          <a:xfrm>
            <a:off x="33390290" y="14462762"/>
            <a:ext cx="10052052" cy="738644"/>
          </a:xfrm>
          <a:prstGeom prst="rect">
            <a:avLst/>
          </a:prstGeom>
        </p:spPr>
        <p:txBody>
          <a:bodyPr/>
          <a:lstStyle/>
          <a:p>
            <a:pPr/>
            <a:r>
              <a:t>Type in or paste your text here</a:t>
            </a:r>
          </a:p>
        </p:txBody>
      </p:sp>
      <p:sp>
        <p:nvSpPr>
          <p:cNvPr id="29" name="Text Placeholder 5"/>
          <p:cNvSpPr/>
          <p:nvPr>
            <p:ph type="body" sz="quarter" idx="31" hasCustomPrompt="1"/>
          </p:nvPr>
        </p:nvSpPr>
        <p:spPr>
          <a:xfrm>
            <a:off x="33390290" y="25130760"/>
            <a:ext cx="10047021"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(click to edit)  ACKNOWLEDGEMENTS or  CONTACT</a:t>
            </a:r>
          </a:p>
        </p:txBody>
      </p:sp>
      <p:sp>
        <p:nvSpPr>
          <p:cNvPr id="30" name="Text Placeholder 3"/>
          <p:cNvSpPr/>
          <p:nvPr>
            <p:ph type="body" sz="quarter" idx="32" hasCustomPrompt="1"/>
          </p:nvPr>
        </p:nvSpPr>
        <p:spPr>
          <a:xfrm>
            <a:off x="33390290" y="25884806"/>
            <a:ext cx="10052052" cy="738644"/>
          </a:xfrm>
          <a:prstGeom prst="rect">
            <a:avLst/>
          </a:prstGeom>
        </p:spPr>
        <p:txBody>
          <a:bodyPr/>
          <a:lstStyle/>
          <a:p>
            <a:pPr/>
            <a:r>
              <a:t>Type in or paste your text here</a:t>
            </a:r>
          </a:p>
        </p:txBody>
      </p:sp>
      <p:sp>
        <p:nvSpPr>
          <p:cNvPr id="31" name="Text Placeholder 3"/>
          <p:cNvSpPr/>
          <p:nvPr>
            <p:ph type="body" sz="quarter" idx="33" hasCustomPrompt="1"/>
          </p:nvPr>
        </p:nvSpPr>
        <p:spPr>
          <a:xfrm>
            <a:off x="459673" y="14402911"/>
            <a:ext cx="10056815" cy="738644"/>
          </a:xfrm>
          <a:prstGeom prst="rect">
            <a:avLst/>
          </a:prstGeom>
        </p:spPr>
        <p:txBody>
          <a:bodyPr/>
          <a:lstStyle/>
          <a:p>
            <a:pPr/>
            <a:r>
              <a:t>Type in or paste your text here</a:t>
            </a:r>
          </a:p>
        </p:txBody>
      </p:sp>
      <p:sp>
        <p:nvSpPr>
          <p:cNvPr id="32" name="Text Placeholder 76"/>
          <p:cNvSpPr/>
          <p:nvPr>
            <p:ph type="body" sz="quarter" idx="34" hasCustomPrompt="1"/>
          </p:nvPr>
        </p:nvSpPr>
        <p:spPr>
          <a:xfrm>
            <a:off x="5932592" y="2505786"/>
            <a:ext cx="31998969" cy="523222"/>
          </a:xfrm>
          <a:prstGeom prst="rect">
            <a:avLst/>
          </a:prstGeom>
        </p:spPr>
        <p:txBody>
          <a:bodyPr lIns="45718" tIns="45718" rIns="45718" bIns="45718"/>
          <a:lstStyle>
            <a:lvl1pPr algn="ctr">
              <a:spcBef>
                <a:spcPts val="600"/>
              </a:spcBef>
              <a:defRPr sz="2800">
                <a:solidFill>
                  <a:srgbClr val="FFFFFF"/>
                </a:solidFill>
              </a:defRPr>
            </a:lvl1pPr>
          </a:lstStyle>
          <a:p>
            <a:pPr/>
            <a:r>
              <a:t>Click here to add affiliations</a:t>
            </a:r>
          </a:p>
        </p:txBody>
      </p:sp>
      <p:sp>
        <p:nvSpPr>
          <p:cNvPr id="33" name="Text Placeholder 76"/>
          <p:cNvSpPr/>
          <p:nvPr>
            <p:ph type="body" sz="quarter" idx="35" hasCustomPrompt="1"/>
          </p:nvPr>
        </p:nvSpPr>
        <p:spPr>
          <a:xfrm>
            <a:off x="5932592" y="1562745"/>
            <a:ext cx="31998969" cy="769443"/>
          </a:xfrm>
          <a:prstGeom prst="rect">
            <a:avLst/>
          </a:prstGeom>
        </p:spPr>
        <p:txBody>
          <a:bodyPr lIns="45718" tIns="45718" rIns="45718" bIns="45718"/>
          <a:lstStyle>
            <a:lvl1pPr algn="ctr">
              <a:spcBef>
                <a:spcPts val="1000"/>
              </a:spcBef>
              <a:defRPr sz="4400">
                <a:solidFill>
                  <a:srgbClr val="FFFFFF"/>
                </a:solidFill>
              </a:defRPr>
            </a:lvl1pPr>
          </a:lstStyle>
          <a:p>
            <a:pPr/>
            <a:r>
              <a:t>Click here to add authors</a:t>
            </a:r>
          </a:p>
        </p:txBody>
      </p:sp>
      <p:sp>
        <p:nvSpPr>
          <p:cNvPr id="34" name="Text Placeholder 76"/>
          <p:cNvSpPr/>
          <p:nvPr>
            <p:ph type="body" sz="quarter" idx="36" hasCustomPrompt="1"/>
          </p:nvPr>
        </p:nvSpPr>
        <p:spPr>
          <a:xfrm>
            <a:off x="5932592" y="465812"/>
            <a:ext cx="31998969" cy="923332"/>
          </a:xfrm>
          <a:prstGeom prst="rect">
            <a:avLst/>
          </a:prstGeom>
        </p:spPr>
        <p:txBody>
          <a:bodyPr lIns="45718" tIns="45718" rIns="45718" bIns="45718"/>
          <a:lstStyle>
            <a:lvl1pPr algn="ctr">
              <a:spcBef>
                <a:spcPts val="1200"/>
              </a:spcBef>
              <a:defRPr b="1" sz="5400">
                <a:solidFill>
                  <a:srgbClr val="FFFFFF"/>
                </a:solidFill>
              </a:defRPr>
            </a:lvl1pPr>
          </a:lstStyle>
          <a:p>
            <a:pPr/>
            <a:r>
              <a:t>Click here to add title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Without guides">
    <p:spTree>
      <p:nvGrpSpPr>
        <p:cNvPr id="1" name=""/>
        <p:cNvGrpSpPr/>
        <p:nvPr/>
      </p:nvGrpSpPr>
      <p:grpSpPr>
        <a:xfrm>
          <a:off x="0" y="0"/>
          <a:ext cx="0" cy="0"/>
          <a:chOff x="0" y="0"/>
          <a:chExt cx="0" cy="0"/>
        </a:xfrm>
      </p:grpSpPr>
      <p:sp>
        <p:nvSpPr>
          <p:cNvPr id="42" name="Text Box 14"/>
          <p:cNvSpPr txBox="1"/>
          <p:nvPr/>
        </p:nvSpPr>
        <p:spPr>
          <a:xfrm>
            <a:off x="1612945" y="32390909"/>
            <a:ext cx="2423320" cy="365532"/>
          </a:xfrm>
          <a:prstGeom prst="rect">
            <a:avLst/>
          </a:prstGeom>
          <a:ln w="12700">
            <a:miter lim="400000"/>
          </a:ln>
          <a:extLst>
            <a:ext uri="{C572A759-6A51-4108-AA02-DFA0A04FC94B}">
              <ma14:wrappingTextBoxFlag xmlns:ma14="http://schemas.microsoft.com/office/mac/drawingml/2011/main" val="1"/>
            </a:ext>
          </a:extLst>
        </p:spPr>
        <p:txBody>
          <a:bodyPr lIns="45622" tIns="45622" rIns="45622" bIns="45622">
            <a:spAutoFit/>
          </a:bodyPr>
          <a:lstStyle/>
          <a:p>
            <a:pPr>
              <a:lnSpc>
                <a:spcPct val="65000"/>
              </a:lnSpc>
              <a:spcBef>
                <a:spcPts val="300"/>
              </a:spcBef>
              <a:defRPr b="1" sz="500">
                <a:solidFill>
                  <a:srgbClr val="BFBFBF"/>
                </a:solidFill>
                <a:latin typeface="Arial"/>
                <a:ea typeface="Arial"/>
                <a:cs typeface="Arial"/>
                <a:sym typeface="Arial"/>
              </a:defRPr>
            </a:pPr>
            <a:r>
              <a:t>RESEARCH POSTER PRESENTATION DESIGN © 2022</a:t>
            </a:r>
          </a:p>
          <a:p>
            <a:pPr>
              <a:lnSpc>
                <a:spcPct val="65000"/>
              </a:lnSpc>
              <a:spcBef>
                <a:spcPts val="600"/>
              </a:spcBef>
              <a:defRPr b="1" sz="1100">
                <a:solidFill>
                  <a:srgbClr val="BFBFBF"/>
                </a:solidFill>
                <a:latin typeface="Arial"/>
                <a:ea typeface="Arial"/>
                <a:cs typeface="Arial"/>
                <a:sym typeface="Arial"/>
              </a:defRPr>
            </a:pPr>
            <a:r>
              <a:t>www.PosterPresentations.com</a:t>
            </a:r>
          </a:p>
        </p:txBody>
      </p:sp>
      <p:sp>
        <p:nvSpPr>
          <p:cNvPr id="43" name="Body Level One…"/>
          <p:cNvSpPr txBox="1"/>
          <p:nvPr>
            <p:ph type="body" sz="quarter" idx="1" hasCustomPrompt="1"/>
          </p:nvPr>
        </p:nvSpPr>
        <p:spPr>
          <a:xfrm>
            <a:off x="459673" y="6378480"/>
            <a:ext cx="10056815" cy="846365"/>
          </a:xfrm>
          <a:prstGeom prst="rect">
            <a:avLst/>
          </a:prstGeom>
        </p:spPr>
        <p:txBody>
          <a:bodyPr/>
          <a:lstStyle>
            <a:lvl1pPr>
              <a:spcBef>
                <a:spcPts val="600"/>
              </a:spcBef>
              <a:defRPr sz="2500">
                <a:latin typeface="Times New Roman"/>
                <a:ea typeface="Times New Roman"/>
                <a:cs typeface="Times New Roman"/>
                <a:sym typeface="Times New Roman"/>
              </a:defRPr>
            </a:lvl1pPr>
            <a:lvl2pPr marL="1485825" indent="-571469">
              <a:spcBef>
                <a:spcPts val="600"/>
              </a:spcBef>
              <a:defRPr sz="2500">
                <a:latin typeface="Times New Roman"/>
                <a:ea typeface="Times New Roman"/>
                <a:cs typeface="Times New Roman"/>
                <a:sym typeface="Times New Roman"/>
              </a:defRPr>
            </a:lvl2pPr>
            <a:lvl3pPr marL="2057295" indent="-571469">
              <a:spcBef>
                <a:spcPts val="600"/>
              </a:spcBef>
              <a:defRPr sz="2500">
                <a:latin typeface="Times New Roman"/>
                <a:ea typeface="Times New Roman"/>
                <a:cs typeface="Times New Roman"/>
                <a:sym typeface="Times New Roman"/>
              </a:defRPr>
            </a:lvl3pPr>
            <a:lvl4pPr marL="2685916" indent="-628618">
              <a:spcBef>
                <a:spcPts val="600"/>
              </a:spcBef>
              <a:defRPr sz="2500">
                <a:latin typeface="Times New Roman"/>
                <a:ea typeface="Times New Roman"/>
                <a:cs typeface="Times New Roman"/>
                <a:sym typeface="Times New Roman"/>
              </a:defRPr>
            </a:lvl4pPr>
            <a:lvl5pPr marL="3143093" indent="-457175">
              <a:spcBef>
                <a:spcPts val="600"/>
              </a:spcBef>
              <a:defRPr sz="2500">
                <a:latin typeface="Times New Roman"/>
                <a:ea typeface="Times New Roman"/>
                <a:cs typeface="Times New Roman"/>
                <a:sym typeface="Times New Roman"/>
              </a:defRPr>
            </a:lvl5pPr>
          </a:lstStyle>
          <a:p>
            <a:pPr/>
            <a:r>
              <a:t>Type in or paste your text here</a:t>
            </a:r>
          </a:p>
          <a:p>
            <a:pPr lvl="1"/>
            <a:r>
              <a:t/>
            </a:r>
          </a:p>
          <a:p>
            <a:pPr lvl="2"/>
            <a:r>
              <a:t/>
            </a:r>
          </a:p>
          <a:p>
            <a:pPr lvl="3"/>
            <a:r>
              <a:t/>
            </a:r>
          </a:p>
          <a:p>
            <a:pPr lvl="4"/>
            <a:r>
              <a:t/>
            </a:r>
          </a:p>
        </p:txBody>
      </p:sp>
      <p:sp>
        <p:nvSpPr>
          <p:cNvPr id="44" name="Text Placeholder 5"/>
          <p:cNvSpPr/>
          <p:nvPr>
            <p:ph type="body" sz="quarter" idx="21" hasCustomPrompt="1"/>
          </p:nvPr>
        </p:nvSpPr>
        <p:spPr>
          <a:xfrm>
            <a:off x="477826" y="5548748"/>
            <a:ext cx="10048876"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INTRODUCTION or ABSTRACT</a:t>
            </a:r>
          </a:p>
        </p:txBody>
      </p:sp>
      <p:sp>
        <p:nvSpPr>
          <p:cNvPr id="45" name="Text Placeholder 5"/>
          <p:cNvSpPr/>
          <p:nvPr>
            <p:ph type="body" sz="quarter" idx="22" hasCustomPrompt="1"/>
          </p:nvPr>
        </p:nvSpPr>
        <p:spPr>
          <a:xfrm>
            <a:off x="477823" y="14212512"/>
            <a:ext cx="10050466"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OBJECTIVES</a:t>
            </a:r>
          </a:p>
        </p:txBody>
      </p:sp>
      <p:sp>
        <p:nvSpPr>
          <p:cNvPr id="46" name="Text Placeholder 3"/>
          <p:cNvSpPr/>
          <p:nvPr>
            <p:ph type="body" sz="quarter" idx="23" hasCustomPrompt="1"/>
          </p:nvPr>
        </p:nvSpPr>
        <p:spPr>
          <a:xfrm>
            <a:off x="11460160" y="6378480"/>
            <a:ext cx="10048877" cy="846365"/>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47" name="Text Placeholder 5"/>
          <p:cNvSpPr/>
          <p:nvPr>
            <p:ph type="body" sz="quarter" idx="24" hasCustomPrompt="1"/>
          </p:nvPr>
        </p:nvSpPr>
        <p:spPr>
          <a:xfrm>
            <a:off x="11460161" y="5548748"/>
            <a:ext cx="10048876"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MATERIALS &amp; METHODS</a:t>
            </a:r>
          </a:p>
        </p:txBody>
      </p:sp>
      <p:sp>
        <p:nvSpPr>
          <p:cNvPr id="48" name="Text Placeholder 3"/>
          <p:cNvSpPr/>
          <p:nvPr>
            <p:ph type="body" sz="quarter" idx="25" hasCustomPrompt="1"/>
          </p:nvPr>
        </p:nvSpPr>
        <p:spPr>
          <a:xfrm>
            <a:off x="22385343" y="6378480"/>
            <a:ext cx="10048876" cy="846365"/>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49" name="Text Placeholder 5"/>
          <p:cNvSpPr/>
          <p:nvPr>
            <p:ph type="body" sz="quarter" idx="26" hasCustomPrompt="1"/>
          </p:nvPr>
        </p:nvSpPr>
        <p:spPr>
          <a:xfrm>
            <a:off x="22377404" y="5548748"/>
            <a:ext cx="10058402"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RESULTS</a:t>
            </a:r>
          </a:p>
        </p:txBody>
      </p:sp>
      <p:sp>
        <p:nvSpPr>
          <p:cNvPr id="50" name="Text Placeholder 5"/>
          <p:cNvSpPr/>
          <p:nvPr>
            <p:ph type="body" sz="quarter" idx="27" hasCustomPrompt="1"/>
          </p:nvPr>
        </p:nvSpPr>
        <p:spPr>
          <a:xfrm>
            <a:off x="33390290" y="5548748"/>
            <a:ext cx="10047021"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CONCLUSIONS</a:t>
            </a:r>
          </a:p>
        </p:txBody>
      </p:sp>
      <p:sp>
        <p:nvSpPr>
          <p:cNvPr id="51" name="Text Placeholder 3"/>
          <p:cNvSpPr/>
          <p:nvPr>
            <p:ph type="body" sz="quarter" idx="28" hasCustomPrompt="1"/>
          </p:nvPr>
        </p:nvSpPr>
        <p:spPr>
          <a:xfrm>
            <a:off x="33390290" y="6378480"/>
            <a:ext cx="10047021" cy="846365"/>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52" name="Text Placeholder 5"/>
          <p:cNvSpPr/>
          <p:nvPr>
            <p:ph type="body" sz="quarter" idx="29" hasCustomPrompt="1"/>
          </p:nvPr>
        </p:nvSpPr>
        <p:spPr>
          <a:xfrm>
            <a:off x="33390290" y="14272738"/>
            <a:ext cx="10047021"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REFERENCES</a:t>
            </a:r>
          </a:p>
        </p:txBody>
      </p:sp>
      <p:sp>
        <p:nvSpPr>
          <p:cNvPr id="53" name="Text Placeholder 3"/>
          <p:cNvSpPr/>
          <p:nvPr>
            <p:ph type="body" sz="quarter" idx="30" hasCustomPrompt="1"/>
          </p:nvPr>
        </p:nvSpPr>
        <p:spPr>
          <a:xfrm>
            <a:off x="33390290" y="15011401"/>
            <a:ext cx="10052052" cy="846365"/>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54" name="Text Placeholder 5"/>
          <p:cNvSpPr/>
          <p:nvPr>
            <p:ph type="body" sz="quarter" idx="31" hasCustomPrompt="1"/>
          </p:nvPr>
        </p:nvSpPr>
        <p:spPr>
          <a:xfrm>
            <a:off x="33390290" y="25679401"/>
            <a:ext cx="10047021" cy="754047"/>
          </a:xfrm>
          <a:prstGeom prst="rect">
            <a:avLst/>
          </a:prstGeom>
        </p:spPr>
        <p:txBody>
          <a:bodyPr lIns="91436" tIns="91436" rIns="91436" bIns="91436" anchor="ctr"/>
          <a:lstStyle>
            <a:lvl1pPr algn="ctr">
              <a:spcBef>
                <a:spcPts val="800"/>
              </a:spcBef>
              <a:defRPr b="1" sz="3700" u="sng">
                <a:latin typeface="+mj-lt"/>
                <a:ea typeface="+mj-ea"/>
                <a:cs typeface="+mj-cs"/>
                <a:sym typeface="Calibri"/>
              </a:defRPr>
            </a:lvl1pPr>
          </a:lstStyle>
          <a:p>
            <a:pPr/>
            <a:r>
              <a:t>(click to edit)  ACKNOWLEDGEMENTS or  CONTACT</a:t>
            </a:r>
          </a:p>
        </p:txBody>
      </p:sp>
      <p:sp>
        <p:nvSpPr>
          <p:cNvPr id="55" name="Text Placeholder 3"/>
          <p:cNvSpPr/>
          <p:nvPr>
            <p:ph type="body" sz="quarter" idx="32" hasCustomPrompt="1"/>
          </p:nvPr>
        </p:nvSpPr>
        <p:spPr>
          <a:xfrm>
            <a:off x="33390290" y="26433446"/>
            <a:ext cx="10052052" cy="846366"/>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56" name="Text Placeholder 3"/>
          <p:cNvSpPr/>
          <p:nvPr>
            <p:ph type="body" sz="quarter" idx="33" hasCustomPrompt="1"/>
          </p:nvPr>
        </p:nvSpPr>
        <p:spPr>
          <a:xfrm>
            <a:off x="459673" y="14951552"/>
            <a:ext cx="10056815" cy="846365"/>
          </a:xfrm>
          <a:prstGeom prst="rect">
            <a:avLst/>
          </a:prstGeom>
        </p:spPr>
        <p:txBody>
          <a:bodyPr/>
          <a:lstStyle>
            <a:lvl1pPr>
              <a:spcBef>
                <a:spcPts val="600"/>
              </a:spcBef>
              <a:defRPr sz="2500">
                <a:latin typeface="Times New Roman"/>
                <a:ea typeface="Times New Roman"/>
                <a:cs typeface="Times New Roman"/>
                <a:sym typeface="Times New Roman"/>
              </a:defRPr>
            </a:lvl1pPr>
          </a:lstStyle>
          <a:p>
            <a:pPr/>
            <a:r>
              <a:t>Type in or paste your text here</a:t>
            </a:r>
          </a:p>
        </p:txBody>
      </p:sp>
      <p:sp>
        <p:nvSpPr>
          <p:cNvPr id="57" name="Text Placeholder 76"/>
          <p:cNvSpPr/>
          <p:nvPr>
            <p:ph type="body" sz="quarter" idx="34" hasCustomPrompt="1"/>
          </p:nvPr>
        </p:nvSpPr>
        <p:spPr>
          <a:xfrm>
            <a:off x="5932592" y="3383946"/>
            <a:ext cx="31998969" cy="1280162"/>
          </a:xfrm>
          <a:prstGeom prst="rect">
            <a:avLst/>
          </a:prstGeom>
        </p:spPr>
        <p:txBody>
          <a:bodyPr lIns="45718" tIns="45718" rIns="45718" bIns="45718"/>
          <a:lstStyle>
            <a:lvl1pPr algn="ctr">
              <a:spcBef>
                <a:spcPts val="1400"/>
              </a:spcBef>
              <a:defRPr sz="6000">
                <a:latin typeface="+mj-lt"/>
                <a:ea typeface="+mj-ea"/>
                <a:cs typeface="+mj-cs"/>
                <a:sym typeface="Calibri"/>
              </a:defRPr>
            </a:lvl1pPr>
          </a:lstStyle>
          <a:p>
            <a:pPr/>
            <a:r>
              <a:t>Click here to add affiliations</a:t>
            </a:r>
          </a:p>
        </p:txBody>
      </p:sp>
      <p:sp>
        <p:nvSpPr>
          <p:cNvPr id="58" name="Text Placeholder 76"/>
          <p:cNvSpPr/>
          <p:nvPr>
            <p:ph type="body" sz="quarter" idx="35" hasCustomPrompt="1"/>
          </p:nvPr>
        </p:nvSpPr>
        <p:spPr>
          <a:xfrm>
            <a:off x="5932592" y="2103787"/>
            <a:ext cx="31998969" cy="1280162"/>
          </a:xfrm>
          <a:prstGeom prst="rect">
            <a:avLst/>
          </a:prstGeom>
        </p:spPr>
        <p:txBody>
          <a:bodyPr lIns="45718" tIns="45718" rIns="45718" bIns="45718"/>
          <a:lstStyle>
            <a:lvl1pPr algn="ctr">
              <a:spcBef>
                <a:spcPts val="2100"/>
              </a:spcBef>
              <a:defRPr sz="8800">
                <a:latin typeface="+mj-lt"/>
                <a:ea typeface="+mj-ea"/>
                <a:cs typeface="+mj-cs"/>
                <a:sym typeface="Calibri"/>
              </a:defRPr>
            </a:lvl1pPr>
          </a:lstStyle>
          <a:p>
            <a:pPr/>
            <a:r>
              <a:t>Click here to add authors</a:t>
            </a:r>
          </a:p>
        </p:txBody>
      </p:sp>
      <p:sp>
        <p:nvSpPr>
          <p:cNvPr id="59" name="Text Placeholder 76"/>
          <p:cNvSpPr/>
          <p:nvPr>
            <p:ph type="body" sz="quarter" idx="36" hasCustomPrompt="1"/>
          </p:nvPr>
        </p:nvSpPr>
        <p:spPr>
          <a:xfrm>
            <a:off x="5932592" y="465812"/>
            <a:ext cx="31998969" cy="1637976"/>
          </a:xfrm>
          <a:prstGeom prst="rect">
            <a:avLst/>
          </a:prstGeom>
        </p:spPr>
        <p:txBody>
          <a:bodyPr lIns="45718" tIns="45718" rIns="45718" bIns="45718"/>
          <a:lstStyle>
            <a:lvl1pPr algn="ctr">
              <a:spcBef>
                <a:spcPts val="2700"/>
              </a:spcBef>
              <a:defRPr b="1" sz="11500">
                <a:latin typeface="+mj-lt"/>
                <a:ea typeface="+mj-ea"/>
                <a:cs typeface="+mj-cs"/>
                <a:sym typeface="Calibri"/>
              </a:defRPr>
            </a:lvl1pPr>
          </a:lstStyle>
          <a:p>
            <a:pPr/>
            <a:r>
              <a:t>Click here to add title</a:t>
            </a:r>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posterpresentations.com/how-to-change-the-research-poster-template-colors.html" TargetMode="External"/><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slideLayout" Target="../slideLayouts/slideLayout1.xml"/><Relationship Id="rId10"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4"/>
          <p:cNvSpPr/>
          <p:nvPr/>
        </p:nvSpPr>
        <p:spPr>
          <a:xfrm>
            <a:off x="0" y="32077025"/>
            <a:ext cx="43891200" cy="913296"/>
          </a:xfrm>
          <a:prstGeom prst="rect">
            <a:avLst/>
          </a:prstGeom>
          <a:solidFill>
            <a:srgbClr val="203864"/>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 name="Text Box 14"/>
          <p:cNvSpPr txBox="1"/>
          <p:nvPr/>
        </p:nvSpPr>
        <p:spPr>
          <a:xfrm>
            <a:off x="698545" y="32351882"/>
            <a:ext cx="2423320" cy="365532"/>
          </a:xfrm>
          <a:prstGeom prst="rect">
            <a:avLst/>
          </a:prstGeom>
          <a:ln w="12700">
            <a:miter lim="400000"/>
          </a:ln>
          <a:extLst>
            <a:ext uri="{C572A759-6A51-4108-AA02-DFA0A04FC94B}">
              <ma14:wrappingTextBoxFlag xmlns:ma14="http://schemas.microsoft.com/office/mac/drawingml/2011/main" val="1"/>
            </a:ext>
          </a:extLst>
        </p:spPr>
        <p:txBody>
          <a:bodyPr lIns="45622" tIns="45622" rIns="45622" bIns="45622">
            <a:spAutoFit/>
          </a:bodyPr>
          <a:lstStyle/>
          <a:p>
            <a:pPr>
              <a:lnSpc>
                <a:spcPct val="65000"/>
              </a:lnSpc>
              <a:spcBef>
                <a:spcPts val="300"/>
              </a:spcBef>
              <a:defRPr b="1" sz="500">
                <a:solidFill>
                  <a:srgbClr val="BFBFBF"/>
                </a:solidFill>
                <a:latin typeface="Arial"/>
                <a:ea typeface="Arial"/>
                <a:cs typeface="Arial"/>
                <a:sym typeface="Arial"/>
              </a:defRPr>
            </a:pPr>
            <a:r>
              <a:t>RESEARCH POSTER PRESENTATION DESIGN © 2022</a:t>
            </a:r>
          </a:p>
          <a:p>
            <a:pPr>
              <a:lnSpc>
                <a:spcPct val="65000"/>
              </a:lnSpc>
              <a:spcBef>
                <a:spcPts val="600"/>
              </a:spcBef>
              <a:defRPr b="1" sz="1100">
                <a:solidFill>
                  <a:srgbClr val="BFBFBF"/>
                </a:solidFill>
                <a:latin typeface="Arial"/>
                <a:ea typeface="Arial"/>
                <a:cs typeface="Arial"/>
                <a:sym typeface="Arial"/>
              </a:defRPr>
            </a:pPr>
            <a:r>
              <a:t>www.PosterPresentations.com</a:t>
            </a:r>
          </a:p>
        </p:txBody>
      </p:sp>
      <p:grpSp>
        <p:nvGrpSpPr>
          <p:cNvPr id="6" name="Group 5"/>
          <p:cNvGrpSpPr/>
          <p:nvPr/>
        </p:nvGrpSpPr>
        <p:grpSpPr>
          <a:xfrm>
            <a:off x="2" y="14097"/>
            <a:ext cx="43891198" cy="4263168"/>
            <a:chOff x="1" y="0"/>
            <a:chExt cx="43891196" cy="4263167"/>
          </a:xfrm>
        </p:grpSpPr>
        <p:sp>
          <p:nvSpPr>
            <p:cNvPr id="4" name="Document 6"/>
            <p:cNvSpPr/>
            <p:nvPr/>
          </p:nvSpPr>
          <p:spPr>
            <a:xfrm>
              <a:off x="0" y="315156"/>
              <a:ext cx="43891199" cy="3948013"/>
            </a:xfrm>
            <a:custGeom>
              <a:avLst/>
              <a:gdLst/>
              <a:ahLst/>
              <a:cxnLst>
                <a:cxn ang="0">
                  <a:pos x="wd2" y="hd2"/>
                </a:cxn>
                <a:cxn ang="5400000">
                  <a:pos x="wd2" y="hd2"/>
                </a:cxn>
                <a:cxn ang="10800000">
                  <a:pos x="wd2" y="hd2"/>
                </a:cxn>
                <a:cxn ang="16200000">
                  <a:pos x="wd2" y="hd2"/>
                </a:cxn>
              </a:cxnLst>
              <a:rect l="0" t="0" r="r" b="b"/>
              <a:pathLst>
                <a:path w="21600" h="19255" fill="norm" stroke="1" extrusionOk="0">
                  <a:moveTo>
                    <a:pt x="0" y="0"/>
                  </a:moveTo>
                  <a:lnTo>
                    <a:pt x="21600" y="0"/>
                  </a:lnTo>
                  <a:lnTo>
                    <a:pt x="21600" y="15641"/>
                  </a:lnTo>
                  <a:cubicBezTo>
                    <a:pt x="10800" y="15641"/>
                    <a:pt x="10800" y="21600"/>
                    <a:pt x="0" y="18214"/>
                  </a:cubicBezTo>
                  <a:close/>
                </a:path>
              </a:pathLst>
            </a:custGeom>
            <a:gradFill flip="none" rotWithShape="1">
              <a:gsLst>
                <a:gs pos="0">
                  <a:srgbClr val="C00000"/>
                </a:gs>
                <a:gs pos="100000">
                  <a:schemeClr val="accent4"/>
                </a:gs>
              </a:gsLst>
              <a:lin ang="0" scaled="0"/>
            </a:gra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sp>
          <p:nvSpPr>
            <p:cNvPr id="5" name="Document 7"/>
            <p:cNvSpPr/>
            <p:nvPr/>
          </p:nvSpPr>
          <p:spPr>
            <a:xfrm>
              <a:off x="0" y="0"/>
              <a:ext cx="43891199" cy="3948012"/>
            </a:xfrm>
            <a:custGeom>
              <a:avLst/>
              <a:gdLst/>
              <a:ahLst/>
              <a:cxnLst>
                <a:cxn ang="0">
                  <a:pos x="wd2" y="hd2"/>
                </a:cxn>
                <a:cxn ang="5400000">
                  <a:pos x="wd2" y="hd2"/>
                </a:cxn>
                <a:cxn ang="10800000">
                  <a:pos x="wd2" y="hd2"/>
                </a:cxn>
                <a:cxn ang="16200000">
                  <a:pos x="wd2" y="hd2"/>
                </a:cxn>
              </a:cxnLst>
              <a:rect l="0" t="0" r="r" b="b"/>
              <a:pathLst>
                <a:path w="21600" h="19255" fill="norm" stroke="1" extrusionOk="0">
                  <a:moveTo>
                    <a:pt x="0" y="0"/>
                  </a:moveTo>
                  <a:lnTo>
                    <a:pt x="21600" y="0"/>
                  </a:lnTo>
                  <a:lnTo>
                    <a:pt x="21600" y="15641"/>
                  </a:lnTo>
                  <a:cubicBezTo>
                    <a:pt x="10800" y="15641"/>
                    <a:pt x="10800" y="21600"/>
                    <a:pt x="0" y="18214"/>
                  </a:cubicBezTo>
                  <a:close/>
                </a:path>
              </a:pathLst>
            </a:custGeom>
            <a:solidFill>
              <a:srgbClr val="203864"/>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Calibri"/>
                </a:defRPr>
              </a:pPr>
            </a:p>
          </p:txBody>
        </p:sp>
      </p:grpSp>
      <p:graphicFrame>
        <p:nvGraphicFramePr>
          <p:cNvPr id="7" name="Table 11"/>
          <p:cNvGraphicFramePr/>
          <p:nvPr/>
        </p:nvGraphicFramePr>
        <p:xfrm>
          <a:off x="-10611120" y="14097"/>
          <a:ext cx="9776871" cy="3267922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192245"/>
                <a:gridCol w="5584624"/>
              </a:tblGrid>
              <a:tr h="1329113">
                <a:tc gridSpan="2">
                  <a:txBody>
                    <a:bodyPr/>
                    <a:lstStyle/>
                    <a:p>
                      <a:pPr algn="ctr">
                        <a:defRPr b="0" spc="600" sz="3600">
                          <a:solidFill>
                            <a:srgbClr val="1F3A4E"/>
                          </a:solidFill>
                          <a:latin typeface="Arial Black"/>
                          <a:ea typeface="Arial Black"/>
                          <a:cs typeface="Arial Black"/>
                          <a:sym typeface="Arial Black"/>
                        </a:defRPr>
                      </a:pPr>
                      <a:r>
                        <a:t>QUICK START GUIDE</a:t>
                      </a:r>
                      <a:br/>
                      <a:r>
                        <a:rPr b="1" spc="0" sz="2800">
                          <a:solidFill>
                            <a:srgbClr val="FF0000"/>
                          </a:solidFill>
                          <a:latin typeface="Trebuchet MS"/>
                          <a:ea typeface="Trebuchet MS"/>
                          <a:cs typeface="Trebuchet MS"/>
                          <a:sym typeface="Trebuchet MS"/>
                        </a:rPr>
                        <a:t>(THIS SIDEBAR WILL NOT PRINT)</a:t>
                      </a:r>
                    </a:p>
                  </a:txBody>
                  <a:tcPr marL="137160" marR="137160" marT="137160" marB="137160" anchor="t" anchorCtr="0" horzOverflow="overflow">
                    <a:solidFill>
                      <a:schemeClr val="accent4"/>
                    </a:solidFill>
                  </a:tcPr>
                </a:tc>
                <a:tc hMerge="1">
                  <a:tcPr/>
                </a:tc>
              </a:tr>
              <a:tr h="4206624">
                <a:tc gridSpan="2">
                  <a:txBody>
                    <a:bodyPr/>
                    <a:lstStyle/>
                    <a:p>
                      <a:pPr algn="l" defTabSz="3765639">
                        <a:defRPr sz="2000">
                          <a:solidFill>
                            <a:srgbClr val="D9D9D9"/>
                          </a:solidFill>
                          <a:latin typeface="Arial"/>
                          <a:ea typeface="Arial"/>
                          <a:cs typeface="Arial"/>
                          <a:sym typeface="Arial"/>
                        </a:defRPr>
                      </a:pPr>
                      <a:r>
                        <a:t>This PowerPoint template produces a </a:t>
                      </a:r>
                      <a:r>
                        <a:rPr>
                          <a:solidFill>
                            <a:schemeClr val="accent4"/>
                          </a:solidFill>
                        </a:rPr>
                        <a:t>36"x48" </a:t>
                      </a:r>
                      <a:r>
                        <a:t>presentation poster. You can use it to create your research poster by placing your title, subtitle, text, tables, charts and photos. </a:t>
                      </a:r>
                    </a:p>
                    <a:p>
                      <a:pPr algn="l" defTabSz="3765639">
                        <a:defRPr sz="2000">
                          <a:solidFill>
                            <a:srgbClr val="D9D9D9"/>
                          </a:solidFill>
                          <a:latin typeface="Arial"/>
                          <a:ea typeface="Arial"/>
                          <a:cs typeface="Arial"/>
                          <a:sym typeface="Arial"/>
                        </a:defRPr>
                      </a:pPr>
                    </a:p>
                    <a:p>
                      <a:pPr algn="l" defTabSz="3765639">
                        <a:defRPr sz="2000">
                          <a:solidFill>
                            <a:srgbClr val="D9D9D9"/>
                          </a:solidFill>
                          <a:latin typeface="Arial"/>
                          <a:ea typeface="Arial"/>
                          <a:cs typeface="Arial"/>
                          <a:sym typeface="Arial"/>
                        </a:defRPr>
                      </a:pPr>
                      <a:r>
                        <a:t>We provide a series of online tutorials that will guide you through the poster design process and answer your poster production questions. For complete template tutorials, go online to </a:t>
                      </a:r>
                      <a:r>
                        <a:rPr>
                          <a:solidFill>
                            <a:schemeClr val="accent4"/>
                          </a:solidFill>
                        </a:rPr>
                        <a:t>PosterPresentations.com</a:t>
                      </a:r>
                      <a:r>
                        <a:t> and click on the  </a:t>
                      </a:r>
                      <a:r>
                        <a:rPr>
                          <a:solidFill>
                            <a:schemeClr val="accent4"/>
                          </a:solidFill>
                        </a:rPr>
                        <a:t>HELP DESK</a:t>
                      </a:r>
                      <a:r>
                        <a:t> tab.</a:t>
                      </a:r>
                    </a:p>
                    <a:p>
                      <a:pPr algn="l" defTabSz="3765639">
                        <a:defRPr sz="2000">
                          <a:solidFill>
                            <a:srgbClr val="D9D9D9"/>
                          </a:solidFill>
                          <a:latin typeface="Arial"/>
                          <a:ea typeface="Arial"/>
                          <a:cs typeface="Arial"/>
                          <a:sym typeface="Arial"/>
                        </a:defRPr>
                      </a:pPr>
                    </a:p>
                    <a:p>
                      <a:pPr algn="l" defTabSz="3765639">
                        <a:defRPr sz="2000">
                          <a:solidFill>
                            <a:srgbClr val="D9D9D9"/>
                          </a:solidFill>
                          <a:latin typeface="Arial"/>
                          <a:ea typeface="Arial"/>
                          <a:cs typeface="Arial"/>
                          <a:sym typeface="Arial"/>
                        </a:defRPr>
                      </a:pPr>
                      <a:r>
                        <a:t>To print your poster using our same-day professional printing service, go online to </a:t>
                      </a:r>
                      <a:r>
                        <a:rPr>
                          <a:solidFill>
                            <a:schemeClr val="accent4"/>
                          </a:solidFill>
                        </a:rPr>
                        <a:t>PosterPresentations.com</a:t>
                      </a:r>
                      <a:r>
                        <a:t> and click on "</a:t>
                      </a:r>
                      <a:r>
                        <a:rPr>
                          <a:solidFill>
                            <a:schemeClr val="accent4"/>
                          </a:solidFill>
                        </a:rPr>
                        <a:t>Order your poster</a:t>
                      </a:r>
                      <a:r>
                        <a:t>".</a:t>
                      </a:r>
                    </a:p>
                  </a:txBody>
                  <a:tcPr marL="137160" marR="137160" marT="137160" marB="137160" anchor="t" anchorCtr="0" horzOverflow="overflow">
                    <a:solidFill>
                      <a:srgbClr val="010101"/>
                    </a:solidFill>
                  </a:tcPr>
                </a:tc>
                <a:tc hMerge="1">
                  <a:tcPr/>
                </a:tc>
              </a:tr>
              <a:tr h="4572417">
                <a:tc>
                  <a:txBody>
                    <a:bodyPr/>
                    <a:lstStyle/>
                    <a:p>
                      <a:pPr algn="ctr">
                        <a:defRPr sz="2000">
                          <a:solidFill>
                            <a:srgbClr val="1F3A4E"/>
                          </a:solidFill>
                          <a:latin typeface="+mj-lt"/>
                          <a:ea typeface="+mj-ea"/>
                          <a:cs typeface="+mj-cs"/>
                        </a:defRPr>
                      </a:pPr>
                    </a:p>
                    <a:p>
                      <a:pPr algn="ctr">
                        <a:defRPr sz="2000">
                          <a:solidFill>
                            <a:srgbClr val="1F3A4E"/>
                          </a:solidFill>
                          <a:latin typeface="+mj-lt"/>
                          <a:ea typeface="+mj-ea"/>
                          <a:cs typeface="+mj-cs"/>
                        </a:defRPr>
                      </a:pPr>
                    </a:p>
                    <a:p>
                      <a:pPr algn="ctr">
                        <a:defRPr sz="2000">
                          <a:solidFill>
                            <a:srgbClr val="FFFFFF"/>
                          </a:solidFill>
                          <a:latin typeface="Arial"/>
                          <a:ea typeface="Arial"/>
                          <a:cs typeface="Arial"/>
                          <a:sym typeface="Arial"/>
                        </a:defRPr>
                      </a:pPr>
                      <a:r>
                        <a:t>This is a template for a </a:t>
                      </a:r>
                    </a:p>
                    <a:p>
                      <a:pPr algn="ctr">
                        <a:defRPr sz="2000">
                          <a:solidFill>
                            <a:srgbClr val="FFFFFF"/>
                          </a:solidFill>
                          <a:latin typeface="Arial"/>
                          <a:ea typeface="Arial"/>
                          <a:cs typeface="Arial"/>
                          <a:sym typeface="Arial"/>
                        </a:defRPr>
                      </a:pPr>
                      <a:r>
                        <a:t>presentation poster</a:t>
                      </a:r>
                      <a:br/>
                      <a:r>
                        <a:rPr b="1" sz="3600">
                          <a:solidFill>
                            <a:schemeClr val="accent4"/>
                          </a:solidFill>
                        </a:rPr>
                        <a:t>36 inches tall</a:t>
                      </a:r>
                      <a:br>
                        <a:rPr b="1" sz="3600">
                          <a:solidFill>
                            <a:schemeClr val="accent4"/>
                          </a:solidFill>
                        </a:rPr>
                      </a:br>
                      <a:r>
                        <a:rPr b="1" sz="3600">
                          <a:solidFill>
                            <a:schemeClr val="accent4"/>
                          </a:solidFill>
                        </a:rPr>
                        <a:t>by</a:t>
                      </a:r>
                      <a:br>
                        <a:rPr b="1" sz="3600">
                          <a:solidFill>
                            <a:schemeClr val="accent4"/>
                          </a:solidFill>
                        </a:rPr>
                      </a:br>
                      <a:r>
                        <a:rPr b="1" sz="3600">
                          <a:solidFill>
                            <a:schemeClr val="accent4"/>
                          </a:solidFill>
                        </a:rPr>
                        <a:t>48 inches wide</a:t>
                      </a:r>
                      <a:br>
                        <a:rPr b="1" sz="3600">
                          <a:solidFill>
                            <a:schemeClr val="accent4"/>
                          </a:solidFill>
                        </a:rPr>
                      </a:br>
                    </a:p>
                  </a:txBody>
                  <a:tcPr marL="45720" marR="45720" marT="45720" marB="45720" anchor="t" anchorCtr="0" horzOverflow="overflow">
                    <a:solidFill>
                      <a:srgbClr val="010101"/>
                    </a:solidFill>
                  </a:tcPr>
                </a:tc>
                <a:tc>
                  <a:txBody>
                    <a:bodyPr/>
                    <a:lstStyle/>
                    <a:p>
                      <a:pPr algn="l">
                        <a:defRPr b="1" sz="2400">
                          <a:solidFill>
                            <a:schemeClr val="accent4"/>
                          </a:solidFill>
                          <a:latin typeface="Arial"/>
                          <a:ea typeface="Arial"/>
                          <a:cs typeface="Arial"/>
                          <a:sym typeface="Arial"/>
                        </a:defRPr>
                      </a:pPr>
                      <a:r>
                        <a:t>Important: Check the template size</a:t>
                      </a:r>
                      <a:br/>
                      <a:r>
                        <a:rPr b="0" sz="2000">
                          <a:solidFill>
                            <a:srgbClr val="D9D9D9"/>
                          </a:solidFill>
                        </a:rPr>
                        <a:t>Before you start working on your poster and to avoid printing problems check that you have downloaded and that you are using the correct size template for your poster presentation.</a:t>
                      </a:r>
                      <a:br>
                        <a:rPr b="0" sz="2000">
                          <a:solidFill>
                            <a:srgbClr val="D9D9D9"/>
                          </a:solidFill>
                        </a:rPr>
                      </a:br>
                      <a:r>
                        <a:rPr b="0" sz="2000">
                          <a:solidFill>
                            <a:srgbClr val="D9D9D9"/>
                          </a:solidFill>
                        </a:rPr>
                        <a:t>This template can also be printed at the following sizes without distortion and without any additional formatting:</a:t>
                      </a:r>
                      <a:br>
                        <a:rPr b="0" sz="2000">
                          <a:solidFill>
                            <a:srgbClr val="D9D9D9"/>
                          </a:solidFill>
                        </a:rPr>
                      </a:br>
                      <a:r>
                        <a:rPr b="0" sz="2000"/>
                        <a:t>30 tall x 40 wide</a:t>
                      </a:r>
                      <a:br>
                        <a:rPr b="0" sz="2000"/>
                      </a:br>
                      <a:r>
                        <a:rPr b="0" sz="2000"/>
                        <a:t>42 tall x 56 wide</a:t>
                      </a:r>
                      <a:br>
                        <a:rPr b="0" sz="2000"/>
                      </a:br>
                      <a:r>
                        <a:rPr b="0" sz="2000"/>
                        <a:t>48 tall x 64 wide</a:t>
                      </a:r>
                    </a:p>
                  </a:txBody>
                  <a:tcPr marL="137160" marR="137160" marT="137160" marB="137160" anchor="t" anchorCtr="0" horzOverflow="overflow">
                    <a:solidFill>
                      <a:srgbClr val="010101"/>
                    </a:solidFill>
                  </a:tcPr>
                </a:tc>
              </a:tr>
              <a:tr h="4288692">
                <a:tc>
                  <a:txBody>
                    <a:bodyPr/>
                    <a:lstStyle/>
                    <a:p>
                      <a:pPr indent="2194449">
                        <a:defRPr>
                          <a:latin typeface="+mj-lt"/>
                          <a:ea typeface="+mj-ea"/>
                          <a:cs typeface="+mj-cs"/>
                        </a:defRPr>
                      </a:pPr>
                    </a:p>
                  </a:txBody>
                  <a:tcPr marL="45720" marR="45720" marT="45720" marB="45720" anchor="t" anchorCtr="0" horzOverflow="overflow">
                    <a:blipFill rotWithShape="1">
                      <a:blip r:embed="rId2"/>
                      <a:srcRect l="0" t="0" r="0" b="0"/>
                      <a:stretch>
                        <a:fillRect/>
                      </a:stretch>
                    </a:blipFill>
                  </a:tcPr>
                </a:tc>
                <a:tc>
                  <a:txBody>
                    <a:bodyPr/>
                    <a:lstStyle/>
                    <a:p>
                      <a:pPr algn="l">
                        <a:defRPr b="1" sz="2400">
                          <a:solidFill>
                            <a:schemeClr val="accent4"/>
                          </a:solidFill>
                          <a:latin typeface="Arial"/>
                          <a:ea typeface="Arial"/>
                          <a:cs typeface="Arial"/>
                          <a:sym typeface="Arial"/>
                        </a:defRPr>
                      </a:pPr>
                      <a:r>
                        <a:t>How to </a:t>
                      </a:r>
                      <a:r>
                        <a:rPr sz="4000"/>
                        <a:t>Zoom in </a:t>
                      </a:r>
                      <a:r>
                        <a:t>and </a:t>
                      </a:r>
                      <a:r>
                        <a:rPr sz="1800"/>
                        <a:t>out</a:t>
                      </a:r>
                    </a:p>
                    <a:p>
                      <a:pPr algn="l">
                        <a:defRPr sz="2000">
                          <a:solidFill>
                            <a:srgbClr val="D9D9D9"/>
                          </a:solidFill>
                          <a:latin typeface="Arial"/>
                          <a:ea typeface="Arial"/>
                          <a:cs typeface="Arial"/>
                          <a:sym typeface="Arial"/>
                        </a:defRPr>
                      </a:pPr>
                      <a:r>
                        <a:t>Use the PowerPoint zoom tool to adjust the screen magnification to view comfortably. PowerPoint provides 2 ways to zoom: </a:t>
                      </a:r>
                      <a:br/>
                      <a:r>
                        <a:rPr>
                          <a:solidFill>
                            <a:schemeClr val="accent4"/>
                          </a:solidFill>
                        </a:rPr>
                        <a:t>1. </a:t>
                      </a:r>
                      <a:r>
                        <a:t>On the top menu bar click on the VIEW tab and then click on ZOOM. Choose the zoom percentage that works best for you. </a:t>
                      </a:r>
                      <a:br/>
                      <a:r>
                        <a:rPr>
                          <a:solidFill>
                            <a:schemeClr val="accent4"/>
                          </a:solidFill>
                        </a:rPr>
                        <a:t>2. </a:t>
                      </a:r>
                      <a:r>
                        <a:t>For better zoom flexibility, use the zoom slider at the bottom right of the window.</a:t>
                      </a:r>
                    </a:p>
                  </a:txBody>
                  <a:tcPr marL="137160" marR="137160" marT="137160" marB="137160" anchor="t" anchorCtr="0" horzOverflow="overflow">
                    <a:solidFill>
                      <a:srgbClr val="010101"/>
                    </a:solidFill>
                  </a:tcPr>
                </a:tc>
              </a:tr>
              <a:tr h="1800526">
                <a:tc gridSpan="2">
                  <a:txBody>
                    <a:bodyPr/>
                    <a:lstStyle/>
                    <a:p>
                      <a:pPr algn="l">
                        <a:defRPr b="1" sz="2400">
                          <a:solidFill>
                            <a:schemeClr val="accent4"/>
                          </a:solidFill>
                          <a:latin typeface="Arial"/>
                          <a:ea typeface="Arial"/>
                          <a:cs typeface="Arial"/>
                          <a:sym typeface="Arial"/>
                        </a:defRPr>
                      </a:pPr>
                      <a:r>
                        <a:t>Ruler and Guides</a:t>
                      </a:r>
                      <a:br/>
                      <a:r>
                        <a:rPr b="0" sz="2000">
                          <a:solidFill>
                            <a:srgbClr val="D9D9D9"/>
                          </a:solidFil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45720" marR="45720" marT="45720" marB="45720" anchor="t" anchorCtr="0" horzOverflow="overflow">
                    <a:solidFill>
                      <a:srgbClr val="010101"/>
                    </a:solidFill>
                  </a:tcPr>
                </a:tc>
                <a:tc hMerge="1">
                  <a:tcPr/>
                </a:tc>
              </a:tr>
              <a:tr h="3824339">
                <a:tc>
                  <a:txBody>
                    <a:bodyPr/>
                    <a:lstStyle/>
                    <a:p>
                      <a:pPr indent="2194449">
                        <a:defRPr>
                          <a:latin typeface="+mj-lt"/>
                          <a:ea typeface="+mj-ea"/>
                          <a:cs typeface="+mj-cs"/>
                        </a:defRPr>
                      </a:pPr>
                    </a:p>
                  </a:txBody>
                  <a:tcPr marL="45720" marR="45720" marT="45720" marB="45720" anchor="t" anchorCtr="0" horzOverflow="overflow">
                    <a:blipFill rotWithShape="1">
                      <a:blip r:embed="rId3"/>
                      <a:srcRect l="0" t="0" r="0" b="0"/>
                      <a:stretch>
                        <a:fillRect/>
                      </a:stretch>
                    </a:blipFill>
                  </a:tcPr>
                </a:tc>
                <a:tc>
                  <a:txBody>
                    <a:bodyPr/>
                    <a:lstStyle/>
                    <a:p>
                      <a:pPr lvl="1" algn="l" defTabSz="114300">
                        <a:defRPr b="1" sz="2400">
                          <a:solidFill>
                            <a:schemeClr val="accent4"/>
                          </a:solidFill>
                          <a:latin typeface="Arial"/>
                          <a:ea typeface="Arial"/>
                          <a:cs typeface="Arial"/>
                          <a:sym typeface="Arial"/>
                        </a:defRPr>
                      </a:pPr>
                      <a:r>
                        <a:t>Headers and text containers</a:t>
                      </a:r>
                      <a:br/>
                      <a:r>
                        <a:rPr b="0" sz="2000">
                          <a:solidFill>
                            <a:srgbClr val="D9D9D9"/>
                          </a:solidFill>
                        </a:rPr>
                        <a:t>Included in this template are commonly used section headers such as Abstract, Objectives, Methods, Results, etc. </a:t>
                      </a:r>
                      <a:br>
                        <a:rPr b="0" sz="2000">
                          <a:solidFill>
                            <a:srgbClr val="D9D9D9"/>
                          </a:solidFill>
                        </a:rPr>
                      </a:br>
                      <a:r>
                        <a:rPr b="0" sz="2000"/>
                        <a:t>-</a:t>
                      </a:r>
                      <a:r>
                        <a:rPr b="0" sz="2000">
                          <a:solidFill>
                            <a:srgbClr val="FFFFFF"/>
                          </a:solidFill>
                        </a:rPr>
                        <a:t> </a:t>
                      </a:r>
                      <a:r>
                        <a:rPr b="0" sz="2000">
                          <a:solidFill>
                            <a:srgbClr val="D9D9D9"/>
                          </a:solidFill>
                        </a:rPr>
                        <a:t>Click inside a section header to add its text. </a:t>
                      </a:r>
                      <a:br>
                        <a:rPr b="0" sz="2000">
                          <a:solidFill>
                            <a:srgbClr val="D9D9D9"/>
                          </a:solidFill>
                        </a:rPr>
                      </a:br>
                      <a:r>
                        <a:rPr b="0" sz="2000"/>
                        <a:t>-</a:t>
                      </a:r>
                      <a:r>
                        <a:rPr b="0" sz="2000">
                          <a:solidFill>
                            <a:srgbClr val="FFFFFF"/>
                          </a:solidFill>
                        </a:rPr>
                        <a:t> </a:t>
                      </a:r>
                      <a:r>
                        <a:rPr b="0" sz="2000">
                          <a:solidFill>
                            <a:srgbClr val="D9D9D9"/>
                          </a:solidFill>
                        </a:rPr>
                        <a:t>To add another header, click on edge of the section box so that it is outlined. Copy and paste it. </a:t>
                      </a:r>
                      <a:br>
                        <a:rPr b="0" sz="2000">
                          <a:solidFill>
                            <a:srgbClr val="D9D9D9"/>
                          </a:solidFill>
                        </a:rPr>
                      </a:br>
                      <a:r>
                        <a:rPr b="0" sz="2000"/>
                        <a:t>-</a:t>
                      </a:r>
                      <a:r>
                        <a:rPr b="0" sz="2000">
                          <a:solidFill>
                            <a:srgbClr val="FFFFFF"/>
                          </a:solidFill>
                        </a:rPr>
                        <a:t> </a:t>
                      </a:r>
                      <a:r>
                        <a:rPr b="0" sz="2000">
                          <a:solidFill>
                            <a:srgbClr val="D9D9D9"/>
                          </a:solidFill>
                        </a:rPr>
                        <a:t>To increase its size, click on the white circles and expand to the the desired size.</a:t>
                      </a:r>
                    </a:p>
                  </a:txBody>
                  <a:tcPr marL="137160" marR="137160" marT="137160" marB="137160" anchor="t" anchorCtr="0" horzOverflow="overflow">
                    <a:solidFill>
                      <a:srgbClr val="010101"/>
                    </a:solidFill>
                  </a:tcPr>
                </a:tc>
              </a:tr>
              <a:tr h="3519134">
                <a:tc gridSpan="2">
                  <a:txBody>
                    <a:bodyPr/>
                    <a:lstStyle/>
                    <a:p>
                      <a:pPr algn="l">
                        <a:defRPr b="1" sz="2400">
                          <a:solidFill>
                            <a:schemeClr val="accent4"/>
                          </a:solidFill>
                          <a:latin typeface="Arial"/>
                          <a:ea typeface="Arial"/>
                          <a:cs typeface="Arial"/>
                          <a:sym typeface="Arial"/>
                        </a:defRPr>
                      </a:pPr>
                      <a:r>
                        <a:t>Adding content to the poster</a:t>
                      </a:r>
                    </a:p>
                    <a:p>
                      <a:pPr algn="l">
                        <a:defRPr sz="2000">
                          <a:solidFill>
                            <a:srgbClr val="D9D9D9"/>
                          </a:solidFill>
                          <a:latin typeface="Arial"/>
                          <a:ea typeface="Arial"/>
                          <a:cs typeface="Arial"/>
                          <a:sym typeface="Arial"/>
                        </a:defRPr>
                      </a:pPr>
                      <a: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lgn="l">
                        <a:buSzPct val="100000"/>
                        <a:buChar char="-"/>
                        <a:defRPr sz="2000">
                          <a:solidFill>
                            <a:srgbClr val="D9D9D9"/>
                          </a:solidFill>
                          <a:latin typeface="Arial"/>
                          <a:ea typeface="Arial"/>
                          <a:cs typeface="Arial"/>
                          <a:sym typeface="Arial"/>
                        </a:defRPr>
                      </a:pPr>
                      <a:r>
                        <a:t>If you run out of room, try to reduce the size of your fonts and/or the size of your graphics. If there is a lot of empty space try to increase your font sizes and the size of your graphics. The font used for references can be smaller.</a:t>
                      </a:r>
                    </a:p>
                  </a:txBody>
                  <a:tcPr marL="45720" marR="45720" marT="45720" marB="45720" anchor="t" anchorCtr="0" horzOverflow="overflow">
                    <a:solidFill>
                      <a:srgbClr val="010101"/>
                    </a:solidFill>
                  </a:tcPr>
                </a:tc>
                <a:tc hMerge="1">
                  <a:tcPr/>
                </a:tc>
              </a:tr>
              <a:tr h="2377657">
                <a:tc gridSpan="2">
                  <a:txBody>
                    <a:bodyPr/>
                    <a:lstStyle/>
                    <a:p>
                      <a:pPr algn="l" defTabSz="1518341">
                        <a:defRPr b="1" sz="2400">
                          <a:solidFill>
                            <a:schemeClr val="accent4"/>
                          </a:solidFill>
                          <a:latin typeface="Arial"/>
                          <a:ea typeface="Arial"/>
                          <a:cs typeface="Arial"/>
                          <a:sym typeface="Arial"/>
                        </a:defRPr>
                      </a:pPr>
                      <a:r>
                        <a:t>Photos</a:t>
                      </a:r>
                    </a:p>
                    <a:p>
                      <a:pPr algn="l" defTabSz="977900">
                        <a:defRPr sz="2000">
                          <a:solidFill>
                            <a:srgbClr val="D9D9D9"/>
                          </a:solidFill>
                          <a:latin typeface="Arial"/>
                          <a:ea typeface="Arial"/>
                          <a:cs typeface="Arial"/>
                          <a:sym typeface="Arial"/>
                        </a:defRPr>
                      </a:pPr>
                      <a: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37160" marR="137160" marT="137160" marB="137160" anchor="t" anchorCtr="0" horzOverflow="overflow">
                    <a:solidFill>
                      <a:srgbClr val="010101"/>
                    </a:solidFill>
                  </a:tcPr>
                </a:tc>
                <a:tc hMerge="1">
                  <a:tcPr/>
                </a:tc>
              </a:tr>
              <a:tr h="2293170">
                <a:tc gridSpan="2">
                  <a:txBody>
                    <a:bodyPr/>
                    <a:lstStyle/>
                    <a:p>
                      <a:pPr indent="2194449">
                        <a:defRPr>
                          <a:latin typeface="+mj-lt"/>
                          <a:ea typeface="+mj-ea"/>
                          <a:cs typeface="+mj-cs"/>
                        </a:defRPr>
                      </a:pPr>
                    </a:p>
                  </a:txBody>
                  <a:tcPr marL="137160" marR="137160" marT="137160" marB="137160" anchor="t" anchorCtr="0" horzOverflow="overflow">
                    <a:blipFill rotWithShape="1">
                      <a:blip r:embed="rId4"/>
                      <a:srcRect l="0" t="0" r="0" b="0"/>
                      <a:stretch>
                        <a:fillRect/>
                      </a:stretch>
                    </a:blipFill>
                  </a:tcPr>
                </a:tc>
                <a:tc hMerge="1">
                  <a:tcPr/>
                </a:tc>
              </a:tr>
              <a:tr h="1280277">
                <a:tc gridSpan="2">
                  <a:txBody>
                    <a:bodyPr/>
                    <a:lstStyle/>
                    <a:p>
                      <a:pPr algn="l" defTabSz="1518341">
                        <a:defRPr b="1" sz="2400">
                          <a:solidFill>
                            <a:schemeClr val="accent4"/>
                          </a:solidFill>
                          <a:latin typeface="Arial"/>
                          <a:ea typeface="Arial"/>
                          <a:cs typeface="Arial"/>
                          <a:sym typeface="Arial"/>
                        </a:defRPr>
                      </a:pPr>
                      <a:r>
                        <a:t>Quality check your graphics</a:t>
                      </a:r>
                    </a:p>
                    <a:p>
                      <a:pPr algn="l" defTabSz="1518341">
                        <a:defRPr sz="2000">
                          <a:solidFill>
                            <a:srgbClr val="D9D9D9"/>
                          </a:solidFill>
                          <a:latin typeface="Arial"/>
                          <a:ea typeface="Arial"/>
                          <a:cs typeface="Arial"/>
                          <a:sym typeface="Arial"/>
                        </a:defRPr>
                      </a:pPr>
                      <a:r>
                        <a:t>Zoom in and look at your images at 100%-200% magnification. If they look clear, they will print well. </a:t>
                      </a:r>
                    </a:p>
                  </a:txBody>
                  <a:tcPr marL="137160" marR="137160" marT="137160" marB="137160" anchor="t" anchorCtr="0" horzOverflow="overflow">
                    <a:solidFill>
                      <a:srgbClr val="010101"/>
                    </a:solidFill>
                  </a:tcPr>
                </a:tc>
                <a:tc hMerge="1">
                  <a:tcPr/>
                </a:tc>
              </a:tr>
              <a:tr h="3187270">
                <a:tc gridSpan="2">
                  <a:txBody>
                    <a:bodyPr/>
                    <a:lstStyle/>
                    <a:p>
                      <a:pPr indent="2194449">
                        <a:defRPr>
                          <a:latin typeface="+mj-lt"/>
                          <a:ea typeface="+mj-ea"/>
                          <a:cs typeface="+mj-cs"/>
                        </a:defRPr>
                      </a:pPr>
                    </a:p>
                  </a:txBody>
                  <a:tcPr marL="137160" marR="137160" marT="137160" marB="137160" anchor="t" anchorCtr="0" horzOverflow="overflow">
                    <a:blipFill rotWithShape="1">
                      <a:blip r:embed="rId5"/>
                      <a:srcRect l="0" t="0" r="0" b="0"/>
                      <a:stretch>
                        <a:fillRect/>
                      </a:stretch>
                    </a:blipFill>
                  </a:tcPr>
                </a:tc>
                <a:tc hMerge="1">
                  <a:tcPr/>
                </a:tc>
              </a:tr>
            </a:tbl>
          </a:graphicData>
        </a:graphic>
      </p:graphicFrame>
      <p:graphicFrame>
        <p:nvGraphicFramePr>
          <p:cNvPr id="8" name="Table 12"/>
          <p:cNvGraphicFramePr/>
          <p:nvPr/>
        </p:nvGraphicFramePr>
        <p:xfrm>
          <a:off x="44695228" y="-84749"/>
          <a:ext cx="9430190" cy="3307507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343835"/>
                <a:gridCol w="1381559"/>
                <a:gridCol w="4704794"/>
              </a:tblGrid>
              <a:tr h="1756431">
                <a:tc gridSpan="3">
                  <a:txBody>
                    <a:bodyPr/>
                    <a:lstStyle/>
                    <a:p>
                      <a:pPr algn="ctr">
                        <a:defRPr b="0" spc="600" sz="4000">
                          <a:solidFill>
                            <a:srgbClr val="1F3A4E"/>
                          </a:solidFill>
                          <a:latin typeface="Arial Black"/>
                          <a:ea typeface="Arial Black"/>
                          <a:cs typeface="Arial Black"/>
                          <a:sym typeface="Arial Black"/>
                        </a:defRPr>
                      </a:pPr>
                      <a:r>
                        <a:t>QUICK START GUIDE</a:t>
                      </a:r>
                      <a:br/>
                      <a:r>
                        <a:rPr b="1" spc="0" sz="3200">
                          <a:solidFill>
                            <a:srgbClr val="FF0000"/>
                          </a:solidFill>
                          <a:latin typeface="Trebuchet MS"/>
                          <a:ea typeface="Trebuchet MS"/>
                          <a:cs typeface="Trebuchet MS"/>
                          <a:sym typeface="Trebuchet MS"/>
                        </a:rPr>
                        <a:t>(THIS SIDEBAR WILL NOT PRINT)</a:t>
                      </a:r>
                    </a:p>
                  </a:txBody>
                  <a:tcPr marL="137160" marR="137160" marT="137160" marB="137160" anchor="t" anchorCtr="0" horzOverflow="overflow">
                    <a:solidFill>
                      <a:schemeClr val="accent4"/>
                    </a:solidFill>
                  </a:tcPr>
                </a:tc>
                <a:tc hMerge="1">
                  <a:tcPr/>
                </a:tc>
                <a:tc hMerge="1">
                  <a:tcPr/>
                </a:tc>
              </a:tr>
              <a:tr h="5563101">
                <a:tc gridSpan="3">
                  <a:txBody>
                    <a:bodyPr/>
                    <a:lstStyle/>
                    <a:p>
                      <a:pPr algn="l">
                        <a:defRPr b="1" sz="2800">
                          <a:solidFill>
                            <a:schemeClr val="accent4"/>
                          </a:solidFill>
                          <a:latin typeface="Arial"/>
                          <a:ea typeface="Arial"/>
                          <a:cs typeface="Arial"/>
                          <a:sym typeface="Arial"/>
                        </a:defRPr>
                      </a:pPr>
                      <a:r>
                        <a:t>How to change the template colors</a:t>
                      </a:r>
                    </a:p>
                    <a:p>
                      <a:pPr algn="l" defTabSz="114300">
                        <a:defRPr sz="2400">
                          <a:solidFill>
                            <a:srgbClr val="D9D9D9"/>
                          </a:solidFill>
                          <a:latin typeface="Arial"/>
                          <a:ea typeface="Arial"/>
                          <a:cs typeface="Arial"/>
                          <a:sym typeface="Arial"/>
                        </a:defRPr>
                      </a:pPr>
                      <a:r>
                        <a:t>You can change the overall template color theme by clicking on the COLORS dropdown menu under the DESIGN tab. You can see a tutorial here: </a:t>
                      </a:r>
                      <a:r>
                        <a:rPr u="sng">
                          <a:solidFill>
                            <a:srgbClr val="0000FF"/>
                          </a:solidFill>
                          <a:uFill>
                            <a:solidFill>
                              <a:srgbClr val="0000FF"/>
                            </a:solidFill>
                          </a:uFill>
                          <a:latin typeface="+mj-lt"/>
                          <a:ea typeface="+mj-ea"/>
                          <a:cs typeface="+mj-cs"/>
                          <a:sym typeface="Calibri"/>
                          <a:hlinkClick r:id="rId6" invalidUrl="" action="" tgtFrame="" tooltip="" history="1" highlightClick="0" endSnd="0"/>
                        </a:rPr>
                        <a:t>https://www.posterpresentations.com/how-to-change-the-research-poster-template-colors.html</a:t>
                      </a:r>
                      <a:endParaRPr>
                        <a:solidFill>
                          <a:schemeClr val="accent4"/>
                        </a:solidFill>
                      </a:endParaRPr>
                    </a:p>
                    <a:p>
                      <a:pPr algn="l" defTabSz="114300">
                        <a:defRPr sz="2400">
                          <a:solidFill>
                            <a:srgbClr val="D9D9D9"/>
                          </a:solidFill>
                          <a:latin typeface="Arial"/>
                          <a:ea typeface="Arial"/>
                          <a:cs typeface="Arial"/>
                          <a:sym typeface="Arial"/>
                        </a:defRPr>
                      </a:pPr>
                    </a:p>
                    <a:p>
                      <a:pPr algn="l" defTabSz="114300">
                        <a:defRPr sz="2400">
                          <a:solidFill>
                            <a:srgbClr val="D9D9D9"/>
                          </a:solidFill>
                          <a:latin typeface="Arial"/>
                          <a:ea typeface="Arial"/>
                          <a:cs typeface="Arial"/>
                          <a:sym typeface="Arial"/>
                        </a:defRPr>
                      </a:pPr>
                      <a:r>
                        <a:t>You can also manually change the color of individual elements by going to VIEW &gt; SLIDE MASTER. On the left side of your screen select the background master where you can change the template background, column sizes, etc. </a:t>
                      </a:r>
                    </a:p>
                    <a:p>
                      <a:pPr algn="l" defTabSz="114300">
                        <a:defRPr sz="2400">
                          <a:solidFill>
                            <a:srgbClr val="D9D9D9"/>
                          </a:solidFill>
                          <a:latin typeface="Arial"/>
                          <a:ea typeface="Arial"/>
                          <a:cs typeface="Arial"/>
                          <a:sym typeface="Arial"/>
                        </a:defRPr>
                      </a:pPr>
                    </a:p>
                    <a:p>
                      <a:pPr algn="l" defTabSz="114300">
                        <a:defRPr sz="2400">
                          <a:solidFill>
                            <a:srgbClr val="D9D9D9"/>
                          </a:solidFill>
                          <a:latin typeface="Arial"/>
                          <a:ea typeface="Arial"/>
                          <a:cs typeface="Arial"/>
                          <a:sym typeface="Arial"/>
                        </a:defRPr>
                      </a:pPr>
                      <a:r>
                        <a:t>After you finish working on the SLIDE MASTER, it is important that you go to VIEW &gt; NORMAL to continue working on your poster. </a:t>
                      </a:r>
                    </a:p>
                  </a:txBody>
                  <a:tcPr marL="137160" marR="137160" marT="137160" marB="137160" anchor="t" anchorCtr="0" horzOverflow="overflow">
                    <a:solidFill>
                      <a:srgbClr val="000000"/>
                    </a:solidFill>
                  </a:tcPr>
                </a:tc>
                <a:tc hMerge="1">
                  <a:tcPr/>
                </a:tc>
                <a:tc hMerge="1">
                  <a:tcPr/>
                </a:tc>
              </a:tr>
              <a:tr h="3667719">
                <a:tc gridSpan="3">
                  <a:txBody>
                    <a:bodyPr/>
                    <a:lstStyle/>
                    <a:p>
                      <a:pPr algn="l">
                        <a:defRPr b="1" sz="2800">
                          <a:solidFill>
                            <a:schemeClr val="accent4"/>
                          </a:solidFill>
                          <a:latin typeface="Arial"/>
                          <a:ea typeface="Arial"/>
                          <a:cs typeface="Arial"/>
                          <a:sym typeface="Arial"/>
                        </a:defRPr>
                      </a:pPr>
                      <a:r>
                        <a:t>How to change the column layout configuration</a:t>
                      </a:r>
                    </a:p>
                    <a:p>
                      <a:pPr algn="l">
                        <a:defRPr sz="2400">
                          <a:solidFill>
                            <a:srgbClr val="D9D9D9"/>
                          </a:solidFill>
                          <a:latin typeface="Arial"/>
                          <a:ea typeface="Arial"/>
                          <a:cs typeface="Arial"/>
                          <a:sym typeface="Arial"/>
                        </a:defRPr>
                      </a:pPr>
                      <a:r>
                        <a:t>You can manually change the configuration on the columns by going to VIEW &gt; SLIDE MASTER. You can delete columns, resize them or modify them as needed for your layout. </a:t>
                      </a:r>
                    </a:p>
                    <a:p>
                      <a:pPr algn="l" defTabSz="3765365">
                        <a:defRPr sz="2400">
                          <a:solidFill>
                            <a:srgbClr val="D9D9D9"/>
                          </a:solidFill>
                          <a:latin typeface="Arial"/>
                          <a:ea typeface="Arial"/>
                          <a:cs typeface="Arial"/>
                          <a:sym typeface="Arial"/>
                        </a:defRPr>
                      </a:pPr>
                      <a:r>
                        <a:t>You can see a tutorial here: </a:t>
                      </a:r>
                      <a:r>
                        <a:rPr u="sng">
                          <a:solidFill>
                            <a:schemeClr val="accent4"/>
                          </a:solidFill>
                        </a:rPr>
                        <a:t>https://www.posterpresentations.com/how-to-change-the-column-configuration.html</a:t>
                      </a:r>
                    </a:p>
                  </a:txBody>
                  <a:tcPr marL="137160" marR="137160" marT="137160" marB="137160" anchor="t" anchorCtr="0" horzOverflow="overflow">
                    <a:solidFill>
                      <a:srgbClr val="000000"/>
                    </a:solidFill>
                  </a:tcPr>
                </a:tc>
                <a:tc hMerge="1">
                  <a:tcPr/>
                </a:tc>
                <a:tc hMerge="1">
                  <a:tcPr/>
                </a:tc>
              </a:tr>
              <a:tr h="5177074">
                <a:tc gridSpan="2">
                  <a:txBody>
                    <a:bodyPr/>
                    <a:lstStyle/>
                    <a:p>
                      <a:pPr indent="2194449">
                        <a:defRPr>
                          <a:latin typeface="+mj-lt"/>
                          <a:ea typeface="+mj-ea"/>
                          <a:cs typeface="+mj-cs"/>
                        </a:defRPr>
                      </a:pPr>
                    </a:p>
                  </a:txBody>
                  <a:tcPr marL="137160" marR="137160" marT="137160" marB="137160" anchor="t" anchorCtr="0" horzOverflow="overflow">
                    <a:blipFill rotWithShape="1">
                      <a:blip r:embed="rId7"/>
                      <a:srcRect l="0" t="0" r="0" b="0"/>
                      <a:stretch>
                        <a:fillRect/>
                      </a:stretch>
                    </a:blipFill>
                  </a:tcPr>
                </a:tc>
                <a:tc hMerge="1">
                  <a:tcPr/>
                </a:tc>
                <a:tc rowSpan="2">
                  <a:txBody>
                    <a:bodyPr/>
                    <a:lstStyle/>
                    <a:p>
                      <a:pPr algn="l" defTabSz="1518341">
                        <a:defRPr b="1" sz="2800">
                          <a:solidFill>
                            <a:schemeClr val="accent4"/>
                          </a:solidFill>
                          <a:latin typeface="Arial"/>
                          <a:ea typeface="Arial"/>
                          <a:cs typeface="Arial"/>
                          <a:sym typeface="Arial"/>
                        </a:defRPr>
                      </a:pPr>
                      <a:r>
                        <a:t>How to hide the QUICK START GUIDE bars from the sides of the template</a:t>
                      </a:r>
                    </a:p>
                    <a:p>
                      <a:pPr algn="l" defTabSz="114300">
                        <a:defRPr sz="2400">
                          <a:solidFill>
                            <a:srgbClr val="D9D9D9"/>
                          </a:solidFill>
                          <a:latin typeface="Arial"/>
                          <a:ea typeface="Arial"/>
                          <a:cs typeface="Arial"/>
                          <a:sym typeface="Arial"/>
                        </a:defRPr>
                      </a:pPr>
                      <a:r>
                        <a:t>The Quick Start Guides </a:t>
                      </a:r>
                      <a:r>
                        <a:rPr u="sng"/>
                        <a:t>are outside the template’s printable area</a:t>
                      </a:r>
                      <a:r>
                        <a:t> and they will not be on the printed poster. </a:t>
                      </a:r>
                    </a:p>
                    <a:p>
                      <a:pPr algn="l" defTabSz="114300">
                        <a:defRPr sz="2400">
                          <a:solidFill>
                            <a:srgbClr val="D9D9D9"/>
                          </a:solidFill>
                          <a:latin typeface="Arial"/>
                          <a:ea typeface="Arial"/>
                          <a:cs typeface="Arial"/>
                          <a:sym typeface="Arial"/>
                        </a:defRPr>
                      </a:pPr>
                    </a:p>
                    <a:p>
                      <a:pPr algn="l" defTabSz="114300">
                        <a:defRPr sz="2400">
                          <a:solidFill>
                            <a:srgbClr val="D9D9D9"/>
                          </a:solidFill>
                          <a:latin typeface="Arial"/>
                          <a:ea typeface="Arial"/>
                          <a:cs typeface="Arial"/>
                          <a:sym typeface="Arial"/>
                        </a:defRPr>
                      </a:pPr>
                      <a:r>
                        <a:t>If you create a PDF file from your template, the guides will not be included.</a:t>
                      </a:r>
                    </a:p>
                    <a:p>
                      <a:pPr algn="l" defTabSz="114300">
                        <a:defRPr sz="2400">
                          <a:solidFill>
                            <a:srgbClr val="D9D9D9"/>
                          </a:solidFill>
                          <a:latin typeface="Arial"/>
                          <a:ea typeface="Arial"/>
                          <a:cs typeface="Arial"/>
                          <a:sym typeface="Arial"/>
                        </a:defRPr>
                      </a:pPr>
                    </a:p>
                    <a:p>
                      <a:pPr algn="l" defTabSz="114300">
                        <a:defRPr sz="2400">
                          <a:solidFill>
                            <a:srgbClr val="D9D9D9"/>
                          </a:solidFill>
                          <a:latin typeface="Arial"/>
                          <a:ea typeface="Arial"/>
                          <a:cs typeface="Arial"/>
                          <a:sym typeface="Arial"/>
                        </a:defRPr>
                      </a:pPr>
                      <a:r>
                        <a:t>To hide the guides click on the </a:t>
                      </a:r>
                      <a:r>
                        <a:rPr b="1"/>
                        <a:t>Home</a:t>
                      </a:r>
                      <a:r>
                        <a:t> tab (top of the screen) and then click on the </a:t>
                      </a:r>
                      <a:r>
                        <a:rPr b="1"/>
                        <a:t>Layout</a:t>
                      </a:r>
                      <a:r>
                        <a:t> button below to see the available layouts. Choose the </a:t>
                      </a:r>
                      <a:r>
                        <a:rPr b="1"/>
                        <a:t>Without Guides </a:t>
                      </a:r>
                      <a:r>
                        <a:t>layout.</a:t>
                      </a:r>
                    </a:p>
                  </a:txBody>
                  <a:tcPr marL="137160" marR="137160" marT="137160" marB="137160" anchor="t" anchorCtr="0" horzOverflow="overflow">
                    <a:solidFill>
                      <a:srgbClr val="010101"/>
                    </a:solidFill>
                  </a:tcPr>
                </a:tc>
              </a:tr>
              <a:tr h="2888327">
                <a:tc gridSpan="2">
                  <a:txBody>
                    <a:bodyPr/>
                    <a:lstStyle/>
                    <a:p>
                      <a:pPr indent="2194449">
                        <a:defRPr>
                          <a:latin typeface="+mj-lt"/>
                          <a:ea typeface="+mj-ea"/>
                          <a:cs typeface="+mj-cs"/>
                        </a:defRPr>
                      </a:pPr>
                    </a:p>
                  </a:txBody>
                  <a:tcPr marL="137160" marR="137160" marT="137160" marB="137160" anchor="t" anchorCtr="0" horzOverflow="overflow">
                    <a:solidFill>
                      <a:srgbClr val="010101"/>
                    </a:solidFill>
                  </a:tcPr>
                </a:tc>
                <a:tc hMerge="1">
                  <a:tcPr/>
                </a:tc>
                <a:tc vMerge="1">
                  <a:tcPr/>
                </a:tc>
              </a:tr>
              <a:tr h="3781426">
                <a:tc gridSpan="2">
                  <a:txBody>
                    <a:bodyPr/>
                    <a:lstStyle/>
                    <a:p>
                      <a:pPr algn="l">
                        <a:defRPr b="1" sz="2800">
                          <a:solidFill>
                            <a:schemeClr val="accent4"/>
                          </a:solidFill>
                          <a:latin typeface="Arial"/>
                          <a:ea typeface="Arial"/>
                          <a:cs typeface="Arial"/>
                          <a:sym typeface="Arial"/>
                        </a:defRPr>
                      </a:pPr>
                      <a:r>
                        <a:t>How to preview your poster prior to printing</a:t>
                      </a:r>
                    </a:p>
                    <a:p>
                      <a:pPr algn="l">
                        <a:defRPr sz="2400">
                          <a:solidFill>
                            <a:srgbClr val="D9D9D9"/>
                          </a:solidFill>
                          <a:latin typeface="Arial"/>
                          <a:ea typeface="Arial"/>
                          <a:cs typeface="Arial"/>
                          <a:sym typeface="Arial"/>
                        </a:defRPr>
                      </a:pPr>
                      <a:r>
                        <a:t>You can preview your poster at any time by pressing the </a:t>
                      </a:r>
                      <a:r>
                        <a:rPr>
                          <a:solidFill>
                            <a:schemeClr val="accent4"/>
                          </a:solidFill>
                        </a:rPr>
                        <a:t>F5 key</a:t>
                      </a:r>
                      <a:r>
                        <a:t> on your keyboard. You will see on the screen what's on your poster and how it should look when printed. Press the </a:t>
                      </a:r>
                      <a:r>
                        <a:rPr>
                          <a:solidFill>
                            <a:schemeClr val="accent4"/>
                          </a:solidFill>
                        </a:rPr>
                        <a:t>ESC key </a:t>
                      </a:r>
                      <a:r>
                        <a:t>to exit Preview.</a:t>
                      </a:r>
                    </a:p>
                  </a:txBody>
                  <a:tcPr marL="137160" marR="137160" marT="137160" marB="137160" anchor="t" anchorCtr="0" horzOverflow="overflow">
                    <a:solidFill>
                      <a:srgbClr val="010101"/>
                    </a:solidFill>
                  </a:tcPr>
                </a:tc>
                <a:tc hMerge="1">
                  <a:tcPr/>
                </a:tc>
                <a:tc>
                  <a:txBody>
                    <a:bodyPr/>
                    <a:lstStyle/>
                    <a:p>
                      <a:pPr algn="ctr">
                        <a:defRPr b="1" sz="11500">
                          <a:solidFill>
                            <a:srgbClr val="D9D9D9"/>
                          </a:solidFill>
                          <a:latin typeface="Arial"/>
                          <a:ea typeface="Arial"/>
                          <a:cs typeface="Arial"/>
                          <a:sym typeface="Arial"/>
                        </a:defRPr>
                      </a:pPr>
                      <a:r>
                        <a:t>F5</a:t>
                      </a:r>
                      <a:r>
                        <a:rPr b="0" sz="2400"/>
                        <a:t> </a:t>
                      </a:r>
                    </a:p>
                  </a:txBody>
                  <a:tcPr marL="137160" marR="137160" marT="137160" marB="137160" anchor="ctr" anchorCtr="0" horzOverflow="overflow">
                    <a:solidFill>
                      <a:srgbClr val="0D0D0D"/>
                    </a:solidFill>
                  </a:tcPr>
                </a:tc>
              </a:tr>
              <a:tr h="5674009">
                <a:tc gridSpan="3">
                  <a:txBody>
                    <a:bodyPr/>
                    <a:lstStyle/>
                    <a:p>
                      <a:pPr algn="l" defTabSz="1518341">
                        <a:defRPr b="1" sz="2800">
                          <a:solidFill>
                            <a:schemeClr val="accent4"/>
                          </a:solidFill>
                          <a:latin typeface="Arial"/>
                          <a:ea typeface="Arial"/>
                          <a:cs typeface="Arial"/>
                          <a:sym typeface="Arial"/>
                        </a:defRPr>
                      </a:pPr>
                      <a:r>
                        <a:t>How to print your poster</a:t>
                      </a:r>
                    </a:p>
                    <a:p>
                      <a:pPr algn="l" defTabSz="114300">
                        <a:defRPr sz="2400">
                          <a:solidFill>
                            <a:srgbClr val="D9D9D9"/>
                          </a:solidFill>
                          <a:latin typeface="Arial"/>
                          <a:ea typeface="Arial"/>
                          <a:cs typeface="Arial"/>
                          <a:sym typeface="Arial"/>
                        </a:defRPr>
                      </a:pPr>
                      <a:r>
                        <a:t>When you are ready to have your poster printed go online to </a:t>
                      </a:r>
                      <a:r>
                        <a:rPr>
                          <a:solidFill>
                            <a:schemeClr val="accent4"/>
                          </a:solidFill>
                        </a:rPr>
                        <a:t>PosterPresentations.com</a:t>
                      </a:r>
                      <a:r>
                        <a:t> and click on the "</a:t>
                      </a:r>
                      <a:r>
                        <a:rPr>
                          <a:solidFill>
                            <a:schemeClr val="accent4"/>
                          </a:solidFill>
                        </a:rPr>
                        <a:t>Order Your Poster</a:t>
                      </a:r>
                      <a:r>
                        <a:t>" button. You can have your poster printed on professional papers, fabric for easy traveling and a variety of other materials. </a:t>
                      </a:r>
                    </a:p>
                    <a:p>
                      <a:pPr algn="l" defTabSz="114300">
                        <a:defRPr sz="2400">
                          <a:solidFill>
                            <a:srgbClr val="D9D9D9"/>
                          </a:solidFill>
                          <a:latin typeface="Arial"/>
                          <a:ea typeface="Arial"/>
                          <a:cs typeface="Arial"/>
                          <a:sym typeface="Arial"/>
                        </a:defRPr>
                      </a:pPr>
                      <a: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algn="l" defTabSz="114300">
                        <a:defRPr sz="2400">
                          <a:solidFill>
                            <a:srgbClr val="D9D9D9"/>
                          </a:solidFill>
                          <a:latin typeface="Arial"/>
                          <a:ea typeface="Arial"/>
                          <a:cs typeface="Arial"/>
                          <a:sym typeface="Arial"/>
                        </a:defRPr>
                      </a:pPr>
                      <a:br/>
                      <a:r>
                        <a:t>Go to </a:t>
                      </a:r>
                      <a:r>
                        <a:rPr>
                          <a:solidFill>
                            <a:schemeClr val="accent4"/>
                          </a:solidFill>
                        </a:rPr>
                        <a:t>PosterPresentations.com</a:t>
                      </a:r>
                      <a:r>
                        <a:t> for more information.</a:t>
                      </a:r>
                    </a:p>
                  </a:txBody>
                  <a:tcPr marL="137160" marR="137160" marT="137160" marB="137160" anchor="t" anchorCtr="0" horzOverflow="overflow">
                    <a:solidFill>
                      <a:srgbClr val="010101"/>
                    </a:solidFill>
                  </a:tcPr>
                </a:tc>
                <a:tc hMerge="1">
                  <a:tcPr/>
                </a:tc>
                <a:tc hMerge="1">
                  <a:tcPr/>
                </a:tc>
              </a:tr>
              <a:tr h="1354778">
                <a:tc gridSpan="3">
                  <a:txBody>
                    <a:bodyPr/>
                    <a:lstStyle/>
                    <a:p>
                      <a:pPr indent="2194449">
                        <a:defRPr>
                          <a:latin typeface="+mj-lt"/>
                          <a:ea typeface="+mj-ea"/>
                          <a:cs typeface="+mj-cs"/>
                        </a:defRPr>
                      </a:pPr>
                    </a:p>
                  </a:txBody>
                  <a:tcPr marL="137160" marR="137160" marT="137160" marB="137160" anchor="t" anchorCtr="0" horzOverflow="overflow">
                    <a:blipFill rotWithShape="1">
                      <a:blip r:embed="rId8"/>
                      <a:srcRect l="0" t="0" r="0" b="0"/>
                      <a:stretch>
                        <a:fillRect/>
                      </a:stretch>
                    </a:blipFill>
                  </a:tcPr>
                </a:tc>
                <a:tc hMerge="1">
                  <a:tcPr/>
                </a:tc>
                <a:tc hMerge="1">
                  <a:tcPr/>
                </a:tc>
              </a:tr>
              <a:tr h="3212204">
                <a:tc>
                  <a:txBody>
                    <a:bodyPr/>
                    <a:lstStyle/>
                    <a:p>
                      <a:pPr algn="l">
                        <a:lnSpc>
                          <a:spcPts val="2600"/>
                        </a:lnSpc>
                        <a:defRPr sz="2000">
                          <a:solidFill>
                            <a:srgbClr val="D9D9D9"/>
                          </a:solidFill>
                          <a:latin typeface="Arial"/>
                          <a:ea typeface="Arial"/>
                          <a:cs typeface="Arial"/>
                          <a:sym typeface="Arial"/>
                        </a:defRPr>
                      </a:pPr>
                      <a:r>
                        <a:t>© 2019 PosterPresentations.com</a:t>
                      </a:r>
                      <a:br/>
                      <a:r>
                        <a:t>2117 Fourth Street , STE C        </a:t>
                      </a:r>
                    </a:p>
                    <a:p>
                      <a:pPr algn="l">
                        <a:lnSpc>
                          <a:spcPts val="2600"/>
                        </a:lnSpc>
                        <a:defRPr sz="2000">
                          <a:solidFill>
                            <a:srgbClr val="D9D9D9"/>
                          </a:solidFill>
                          <a:latin typeface="Arial"/>
                          <a:ea typeface="Arial"/>
                          <a:cs typeface="Arial"/>
                          <a:sym typeface="Arial"/>
                        </a:defRPr>
                      </a:pPr>
                      <a:r>
                        <a:t>Berkeley CA 94710 USA</a:t>
                      </a:r>
                    </a:p>
                  </a:txBody>
                  <a:tcPr marL="137160" marR="137160" marT="137160" marB="137160" anchor="t" anchorCtr="0" horzOverflow="overflow">
                    <a:solidFill>
                      <a:srgbClr val="010101"/>
                    </a:solidFill>
                  </a:tcPr>
                </a:tc>
                <a:tc gridSpan="2">
                  <a:txBody>
                    <a:bodyPr/>
                    <a:lstStyle/>
                    <a:p>
                      <a:pPr algn="l">
                        <a:defRPr b="1" sz="2400">
                          <a:solidFill>
                            <a:srgbClr val="D0D0D0"/>
                          </a:solidFill>
                          <a:latin typeface="Arial"/>
                          <a:ea typeface="Arial"/>
                          <a:cs typeface="Arial"/>
                          <a:sym typeface="Arial"/>
                        </a:defRPr>
                      </a:pPr>
                      <a:r>
                        <a:t>For complete tutorials visit:</a:t>
                      </a:r>
                    </a:p>
                    <a:p>
                      <a:pPr algn="l">
                        <a:defRPr b="1" sz="1800">
                          <a:solidFill>
                            <a:schemeClr val="accent4"/>
                          </a:solidFill>
                          <a:latin typeface="Arial"/>
                          <a:ea typeface="Arial"/>
                          <a:cs typeface="Arial"/>
                          <a:sym typeface="Arial"/>
                        </a:defRPr>
                      </a:pPr>
                      <a:r>
                        <a:t>https://www.posterpresentations.com/helpdesk.html</a:t>
                      </a:r>
                    </a:p>
                  </a:txBody>
                  <a:tcPr marL="137160" marR="137160" marT="137160" marB="137160" anchor="t" anchorCtr="0" horzOverflow="overflow">
                    <a:solidFill>
                      <a:srgbClr val="010101"/>
                    </a:solidFill>
                  </a:tcPr>
                </a:tc>
                <a:tc hMerge="1">
                  <a:tcPr/>
                </a:tc>
              </a:tr>
            </a:tbl>
          </a:graphicData>
        </a:graphic>
      </p:graphicFrame>
      <p:sp>
        <p:nvSpPr>
          <p:cNvPr id="9" name="Body Level One…"/>
          <p:cNvSpPr txBox="1"/>
          <p:nvPr>
            <p:ph type="body" idx="1" hasCustomPrompt="1"/>
          </p:nvPr>
        </p:nvSpPr>
        <p:spPr>
          <a:xfrm>
            <a:off x="459673" y="5829841"/>
            <a:ext cx="10056815" cy="738644"/>
          </a:xfrm>
          <a:prstGeom prst="rect">
            <a:avLst/>
          </a:prstGeom>
          <a:ln w="12700">
            <a:miter lim="400000"/>
          </a:ln>
          <a:extLst>
            <a:ext uri="{C572A759-6A51-4108-AA02-DFA0A04FC94B}">
              <ma14:wrappingTextBoxFlag xmlns:ma14="http://schemas.microsoft.com/office/mac/drawingml/2011/main" val="1"/>
            </a:ext>
          </a:extLst>
        </p:spPr>
        <p:txBody>
          <a:bodyPr lIns="228589" tIns="228589" rIns="228589" bIns="228589">
            <a:normAutofit fontScale="100000" lnSpcReduction="0"/>
          </a:bodyPr>
          <a:lstStyle/>
          <a:p>
            <a:pPr/>
            <a:r>
              <a:t>Type in or paste your text here</a:t>
            </a:r>
          </a:p>
          <a:p>
            <a:pPr lvl="1"/>
            <a:r>
              <a:t/>
            </a:r>
          </a:p>
          <a:p>
            <a:pPr lvl="2"/>
            <a:r>
              <a:t/>
            </a:r>
          </a:p>
          <a:p>
            <a:pPr lvl="3"/>
            <a:r>
              <a:t/>
            </a:r>
          </a:p>
          <a:p>
            <a:pPr lvl="4"/>
            <a:r>
              <a:t/>
            </a:r>
          </a:p>
        </p:txBody>
      </p:sp>
      <p:sp>
        <p:nvSpPr>
          <p:cNvPr id="10" name="Title Text"/>
          <p:cNvSpPr txBox="1"/>
          <p:nvPr>
            <p:ph type="title"/>
          </p:nvPr>
        </p:nvSpPr>
        <p:spPr>
          <a:xfrm>
            <a:off x="6576059" y="6568484"/>
            <a:ext cx="35112961" cy="22630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11" name="Slide Number"/>
          <p:cNvSpPr txBox="1"/>
          <p:nvPr>
            <p:ph type="sldNum" sz="quarter" idx="2"/>
          </p:nvPr>
        </p:nvSpPr>
        <p:spPr>
          <a:xfrm>
            <a:off x="31196739" y="30386327"/>
            <a:ext cx="258623" cy="248304"/>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9"/>
    <p:sldLayoutId id="2147483650" r:id="rId10"/>
  </p:sldLayoutIdLst>
  <p:transition xmlns:p14="http://schemas.microsoft.com/office/powerpoint/2010/main" spd="med" advClick="1"/>
  <p:txStyles>
    <p:titleStyle>
      <a:lvl1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1pPr>
      <a:lvl2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2pPr>
      <a:lvl3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3pPr>
      <a:lvl4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4pPr>
      <a:lvl5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5pPr>
      <a:lvl6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6pPr>
      <a:lvl7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7pPr>
      <a:lvl8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8pPr>
      <a:lvl9pPr marL="0" marR="0" indent="0" algn="ctr" defTabSz="4388899" rtl="0" latinLnBrk="0">
        <a:lnSpc>
          <a:spcPct val="100000"/>
        </a:lnSpc>
        <a:spcBef>
          <a:spcPts val="0"/>
        </a:spcBef>
        <a:spcAft>
          <a:spcPts val="0"/>
        </a:spcAft>
        <a:buClrTx/>
        <a:buSzTx/>
        <a:buFontTx/>
        <a:buNone/>
        <a:tabLst/>
        <a:defRPr b="0" baseline="0" cap="none" i="0" spc="0" strike="noStrike" sz="8800" u="none">
          <a:solidFill>
            <a:srgbClr val="FFFFFF"/>
          </a:solidFill>
          <a:uFillTx/>
          <a:latin typeface="Trebuchet MS"/>
          <a:ea typeface="Trebuchet MS"/>
          <a:cs typeface="Trebuchet MS"/>
          <a:sym typeface="Trebuchet MS"/>
        </a:defRPr>
      </a:lvl9pPr>
    </p:titleStyle>
    <p:bodyStyle>
      <a:lvl1pPr marL="0" marR="0" indent="0" algn="l" defTabSz="4388899" rtl="0" latinLnBrk="0">
        <a:lnSpc>
          <a:spcPct val="100000"/>
        </a:lnSpc>
        <a:spcBef>
          <a:spcPts val="400"/>
        </a:spcBef>
        <a:spcAft>
          <a:spcPts val="0"/>
        </a:spcAft>
        <a:buClrTx/>
        <a:buSzTx/>
        <a:buFontTx/>
        <a:buNone/>
        <a:tabLst/>
        <a:defRPr b="0" baseline="0" cap="none" i="0" spc="0" strike="noStrike" sz="1800" u="none">
          <a:solidFill>
            <a:srgbClr val="203864"/>
          </a:solidFill>
          <a:uFillTx/>
          <a:latin typeface="Century Gothic"/>
          <a:ea typeface="Century Gothic"/>
          <a:cs typeface="Century Gothic"/>
          <a:sym typeface="Century Gothic"/>
        </a:defRPr>
      </a:lvl1pPr>
      <a:lvl2pPr marL="1325812" marR="0" indent="-411457"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2pPr>
      <a:lvl3pPr marL="1897283" marR="0" indent="-411458"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3pPr>
      <a:lvl4pPr marL="2509902" marR="0" indent="-452604"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4pPr>
      <a:lvl5pPr marL="3015083" marR="0" indent="-329166"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5pPr>
      <a:lvl6pPr marL="11177981" marR="0" indent="-205730"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6pPr>
      <a:lvl7pPr marL="13372430" marR="0" indent="-205730"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7pPr>
      <a:lvl8pPr marL="15566879" marR="0" indent="-205730"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8pPr>
      <a:lvl9pPr marL="17761331" marR="0" indent="-205730" algn="l" defTabSz="4388899" rtl="0" latinLnBrk="0">
        <a:lnSpc>
          <a:spcPct val="100000"/>
        </a:lnSpc>
        <a:spcBef>
          <a:spcPts val="400"/>
        </a:spcBef>
        <a:spcAft>
          <a:spcPts val="0"/>
        </a:spcAft>
        <a:buClrTx/>
        <a:buSzPct val="100000"/>
        <a:buFontTx/>
        <a:buChar char="•"/>
        <a:tabLst/>
        <a:defRPr b="0" baseline="0" cap="none" i="0" spc="0" strike="noStrike" sz="1800" u="none">
          <a:solidFill>
            <a:srgbClr val="203864"/>
          </a:solidFill>
          <a:uFillTx/>
          <a:latin typeface="Century Gothic"/>
          <a:ea typeface="Century Gothic"/>
          <a:cs typeface="Century Gothic"/>
          <a:sym typeface="Century Gothic"/>
        </a:defRPr>
      </a:lvl9pPr>
    </p:bodyStyle>
    <p:otherStyle>
      <a:lvl1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388899"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hyperlink" Target="https://doi.org/10.1016/j.aehs.2024.05.006" TargetMode="External"/><Relationship Id="rId5" Type="http://schemas.openxmlformats.org/officeDocument/2006/relationships/hyperlink" Target="https://doi.org/10.33549/physiolres.934995" TargetMode="External"/><Relationship Id="rId6" Type="http://schemas.openxmlformats.org/officeDocument/2006/relationships/hyperlink" Target="https://doi.org/10.21037/atm.2018.06.21" TargetMode="External"/><Relationship Id="rId7" Type="http://schemas.openxmlformats.org/officeDocument/2006/relationships/hyperlink" Target="https://doi.org/10.1096/fj.202301644RR" TargetMode="External"/><Relationship Id="rId8" Type="http://schemas.openxmlformats.org/officeDocument/2006/relationships/hyperlink" Target="https://doi.org/10.1002/1873-3468.13531"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Text Placeholder 2"/>
          <p:cNvSpPr txBox="1"/>
          <p:nvPr>
            <p:ph type="body" sz="quarter" idx="1"/>
          </p:nvPr>
        </p:nvSpPr>
        <p:spPr>
          <a:xfrm>
            <a:off x="477826" y="5000109"/>
            <a:ext cx="10048876" cy="615547"/>
          </a:xfrm>
          <a:prstGeom prst="rect">
            <a:avLst/>
          </a:prstGeom>
          <a:solidFill>
            <a:srgbClr val="203864"/>
          </a:solidFill>
        </p:spPr>
        <p:txBody>
          <a:bodyPr lIns="91436" tIns="91436" rIns="91436" bIns="91436"/>
          <a:lstStyle>
            <a:lvl1pPr algn="ctr" defTabSz="4257233">
              <a:spcBef>
                <a:spcPts val="600"/>
              </a:spcBef>
              <a:defRPr b="1" sz="2700">
                <a:solidFill>
                  <a:srgbClr val="FFFFFF"/>
                </a:solidFill>
              </a:defRPr>
            </a:lvl1pPr>
          </a:lstStyle>
          <a:p>
            <a:pPr/>
            <a:r>
              <a:t>ABSTRACT</a:t>
            </a:r>
          </a:p>
        </p:txBody>
      </p:sp>
      <p:sp>
        <p:nvSpPr>
          <p:cNvPr id="70" name="Text Placeholder 3"/>
          <p:cNvSpPr/>
          <p:nvPr>
            <p:ph type="body" idx="22"/>
          </p:nvPr>
        </p:nvSpPr>
        <p:spPr>
          <a:xfrm>
            <a:off x="490726" y="20809247"/>
            <a:ext cx="10050465" cy="615547"/>
          </a:xfrm>
          <a:prstGeom prst="rect">
            <a:avLst/>
          </a:prstGeom>
          <a:extLst>
            <a:ext uri="{C572A759-6A51-4108-AA02-DFA0A04FC94B}">
              <ma14:wrappingTextBoxFlag xmlns:ma14="http://schemas.microsoft.com/office/mac/drawingml/2011/main" val="1"/>
            </a:ext>
          </a:extLst>
        </p:spPr>
        <p:txBody>
          <a:bodyPr/>
          <a:lstStyle/>
          <a:p>
            <a:pPr/>
            <a:r>
              <a:t>OBJECTIVE</a:t>
            </a:r>
          </a:p>
        </p:txBody>
      </p:sp>
      <p:sp>
        <p:nvSpPr>
          <p:cNvPr id="71" name="Text Placeholder 4"/>
          <p:cNvSpPr/>
          <p:nvPr>
            <p:ph type="body" idx="23"/>
          </p:nvPr>
        </p:nvSpPr>
        <p:spPr>
          <a:xfrm>
            <a:off x="11459729" y="5885422"/>
            <a:ext cx="10049309" cy="15582905"/>
          </a:xfrm>
          <a:prstGeom prst="rect">
            <a:avLst/>
          </a:prstGeom>
          <a:extLst>
            <a:ext uri="{C572A759-6A51-4108-AA02-DFA0A04FC94B}">
              <ma14:wrappingTextBoxFlag xmlns:ma14="http://schemas.microsoft.com/office/mac/drawingml/2011/main" val="1"/>
            </a:ext>
          </a:extLst>
        </p:spPr>
        <p:txBody>
          <a:bodyPr/>
          <a:lstStyle/>
          <a:p>
            <a:pPr marL="457200" indent="-457200" defTabSz="457200">
              <a:spcBef>
                <a:spcPts val="1200"/>
              </a:spcBef>
              <a:tabLst>
                <a:tab pos="139700" algn="l"/>
                <a:tab pos="457200" algn="l"/>
              </a:tabLst>
              <a:defRPr b="1" sz="3500">
                <a:solidFill>
                  <a:srgbClr val="000000"/>
                </a:solidFill>
                <a:latin typeface="Times Roman"/>
                <a:ea typeface="Times Roman"/>
                <a:cs typeface="Times Roman"/>
                <a:sym typeface="Times Roman"/>
              </a:defRPr>
            </a:pPr>
            <a:r>
              <a:t>Overview of Methods:</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Mitochondrial Isolation</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High-resolution Respirometry</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Caged ADP used as a controlled Impulse Output</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UV Photolysis Release of ADP Instantly</a:t>
            </a:r>
          </a:p>
          <a:p>
            <a:pPr marL="457200" indent="-457200" defTabSz="457200">
              <a:spcBef>
                <a:spcPts val="1200"/>
              </a:spcBef>
              <a:tabLst>
                <a:tab pos="139700" algn="l"/>
                <a:tab pos="457200" algn="l"/>
              </a:tabLst>
              <a:defRPr b="1" sz="3500">
                <a:solidFill>
                  <a:srgbClr val="000000"/>
                </a:solidFill>
                <a:latin typeface="Times Roman"/>
                <a:ea typeface="Times Roman"/>
                <a:cs typeface="Times Roman"/>
                <a:sym typeface="Times Roman"/>
              </a:defRPr>
            </a:pPr>
            <a:r>
              <a:t>Novelty of Protocol</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Simulates Acute ADP addition, generating a kinematic curve independent to each sample.</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Removes diffusion-related confounders</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Captures transient oxygen consumption prior to Steady State</a:t>
            </a:r>
          </a:p>
          <a:p>
            <a:pPr marL="300789" indent="-300789" defTabSz="457200">
              <a:spcBef>
                <a:spcPts val="1200"/>
              </a:spcBef>
              <a:buSzPct val="100000"/>
              <a:buChar char="•"/>
              <a:tabLst>
                <a:tab pos="139700" algn="l"/>
                <a:tab pos="457200" algn="l"/>
              </a:tabLst>
              <a:defRPr sz="3500">
                <a:solidFill>
                  <a:srgbClr val="000000"/>
                </a:solidFill>
                <a:latin typeface="Times Roman"/>
                <a:ea typeface="Times Roman"/>
                <a:cs typeface="Times Roman"/>
                <a:sym typeface="Times Roman"/>
              </a:defRPr>
            </a:pPr>
            <a:r>
              <a:t>Allows for comparison of kinetic responses across samples</a:t>
            </a:r>
          </a:p>
          <a:p>
            <a:pPr marL="457200" indent="-457200" defTabSz="457200">
              <a:spcBef>
                <a:spcPts val="1200"/>
              </a:spcBef>
              <a:tabLst>
                <a:tab pos="139700" algn="l"/>
                <a:tab pos="457200" algn="l"/>
              </a:tabLst>
              <a:defRPr b="1" sz="3700">
                <a:solidFill>
                  <a:srgbClr val="000000"/>
                </a:solidFill>
                <a:latin typeface="Times Roman"/>
                <a:ea typeface="Times Roman"/>
                <a:cs typeface="Times Roman"/>
                <a:sym typeface="Times Roman"/>
              </a:defRPr>
            </a:pPr>
            <a:r>
              <a:t>Mitochondrial Isolation</a:t>
            </a:r>
          </a:p>
          <a:p>
            <a:pPr defTabSz="457200">
              <a:spcBef>
                <a:spcPts val="1200"/>
              </a:spcBef>
              <a:tabLst>
                <a:tab pos="139700" algn="l"/>
                <a:tab pos="457200" algn="l"/>
              </a:tabLst>
              <a:defRPr sz="3500">
                <a:solidFill>
                  <a:srgbClr val="000000"/>
                </a:solidFill>
                <a:latin typeface="Times Roman"/>
                <a:ea typeface="Times Roman"/>
                <a:cs typeface="Times Roman"/>
                <a:sym typeface="Times Roman"/>
              </a:defRPr>
            </a:pPr>
            <a:r>
              <a:t>Mitochondrial samples are collected from fresh mouse tissue, with care to keep the entire process on ice (for integrity of mitochondria). Buffer B (diH2O, MOPS, KCL, EGTA, MgSO4, with and without BSA), Buffer A (PBS 1X and EDTA), and Trypsin (10X) were used for the isolation, along with a teflon homogenizer and swinging bucket-centrifuge. The isolated mitochondria should be pellet form at the end of the isolation, which will then be quantified for concentration and then run accordingly on the O2K. Examples of resultant pellets are shown below.</a:t>
            </a:r>
          </a:p>
        </p:txBody>
      </p:sp>
      <p:sp>
        <p:nvSpPr>
          <p:cNvPr id="72" name="Text Placeholder 5"/>
          <p:cNvSpPr/>
          <p:nvPr>
            <p:ph type="body" idx="24"/>
          </p:nvPr>
        </p:nvSpPr>
        <p:spPr>
          <a:prstGeom prst="rect">
            <a:avLst/>
          </a:prstGeom>
          <a:extLst>
            <a:ext uri="{C572A759-6A51-4108-AA02-DFA0A04FC94B}">
              <ma14:wrappingTextBoxFlag xmlns:ma14="http://schemas.microsoft.com/office/mac/drawingml/2011/main" val="1"/>
            </a:ext>
          </a:extLst>
        </p:spPr>
        <p:txBody>
          <a:bodyPr/>
          <a:lstStyle/>
          <a:p>
            <a:pPr/>
            <a:r>
              <a:t>EXPERIMENTAL APPROACH</a:t>
            </a:r>
          </a:p>
        </p:txBody>
      </p:sp>
      <p:sp>
        <p:nvSpPr>
          <p:cNvPr id="73" name="Text Placeholder 7"/>
          <p:cNvSpPr/>
          <p:nvPr>
            <p:ph type="body" idx="26"/>
          </p:nvPr>
        </p:nvSpPr>
        <p:spPr>
          <a:prstGeom prst="rect">
            <a:avLst/>
          </a:prstGeom>
          <a:extLst>
            <a:ext uri="{C572A759-6A51-4108-AA02-DFA0A04FC94B}">
              <ma14:wrappingTextBoxFlag xmlns:ma14="http://schemas.microsoft.com/office/mac/drawingml/2011/main" val="1"/>
            </a:ext>
          </a:extLst>
        </p:spPr>
        <p:txBody>
          <a:bodyPr/>
          <a:lstStyle/>
          <a:p>
            <a:pPr/>
            <a:r>
              <a:t>EXPERIMENTAL APPROACH</a:t>
            </a:r>
          </a:p>
        </p:txBody>
      </p:sp>
      <p:sp>
        <p:nvSpPr>
          <p:cNvPr id="74" name="Text Placeholder 8"/>
          <p:cNvSpPr/>
          <p:nvPr>
            <p:ph type="body" idx="27"/>
          </p:nvPr>
        </p:nvSpPr>
        <p:spPr>
          <a:prstGeom prst="rect">
            <a:avLst/>
          </a:prstGeom>
          <a:extLst>
            <a:ext uri="{C572A759-6A51-4108-AA02-DFA0A04FC94B}">
              <ma14:wrappingTextBoxFlag xmlns:ma14="http://schemas.microsoft.com/office/mac/drawingml/2011/main" val="1"/>
            </a:ext>
          </a:extLst>
        </p:spPr>
        <p:txBody>
          <a:bodyPr/>
          <a:lstStyle/>
          <a:p>
            <a:pPr/>
            <a:r>
              <a:t>EXPERIMENTAL APPROACH</a:t>
            </a:r>
          </a:p>
        </p:txBody>
      </p:sp>
      <p:sp>
        <p:nvSpPr>
          <p:cNvPr id="75" name="Text Placeholder 10"/>
          <p:cNvSpPr/>
          <p:nvPr>
            <p:ph type="body" idx="29"/>
          </p:nvPr>
        </p:nvSpPr>
        <p:spPr>
          <a:xfrm>
            <a:off x="33390290" y="12233633"/>
            <a:ext cx="10047021" cy="615547"/>
          </a:xfrm>
          <a:prstGeom prst="rect">
            <a:avLst/>
          </a:prstGeom>
          <a:extLst>
            <a:ext uri="{C572A759-6A51-4108-AA02-DFA0A04FC94B}">
              <ma14:wrappingTextBoxFlag xmlns:ma14="http://schemas.microsoft.com/office/mac/drawingml/2011/main" val="1"/>
            </a:ext>
          </a:extLst>
        </p:spPr>
        <p:txBody>
          <a:bodyPr/>
          <a:lstStyle/>
          <a:p>
            <a:pPr/>
            <a:r>
              <a:t>CONCLUSIONS</a:t>
            </a:r>
          </a:p>
        </p:txBody>
      </p:sp>
      <p:sp>
        <p:nvSpPr>
          <p:cNvPr id="76" name="Text Placeholder 12"/>
          <p:cNvSpPr/>
          <p:nvPr>
            <p:ph type="body" idx="31"/>
          </p:nvPr>
        </p:nvSpPr>
        <p:spPr>
          <a:xfrm>
            <a:off x="33121872" y="24943699"/>
            <a:ext cx="10047021" cy="615547"/>
          </a:xfrm>
          <a:prstGeom prst="rect">
            <a:avLst/>
          </a:prstGeom>
          <a:extLst>
            <a:ext uri="{C572A759-6A51-4108-AA02-DFA0A04FC94B}">
              <ma14:wrappingTextBoxFlag xmlns:ma14="http://schemas.microsoft.com/office/mac/drawingml/2011/main" val="1"/>
            </a:ext>
          </a:extLst>
        </p:spPr>
        <p:txBody>
          <a:bodyPr/>
          <a:lstStyle/>
          <a:p>
            <a:pPr/>
            <a:r>
              <a:t>REFERENCES</a:t>
            </a:r>
          </a:p>
        </p:txBody>
      </p:sp>
      <p:sp>
        <p:nvSpPr>
          <p:cNvPr id="77" name="Text Placeholder 15"/>
          <p:cNvSpPr/>
          <p:nvPr>
            <p:ph type="body" idx="34"/>
          </p:nvPr>
        </p:nvSpPr>
        <p:spPr>
          <a:prstGeom prst="rect">
            <a:avLst/>
          </a:prstGeom>
          <a:extLst>
            <a:ext uri="{C572A759-6A51-4108-AA02-DFA0A04FC94B}">
              <ma14:wrappingTextBoxFlag xmlns:ma14="http://schemas.microsoft.com/office/mac/drawingml/2011/main" val="1"/>
            </a:ext>
          </a:extLst>
        </p:spPr>
        <p:txBody>
          <a:bodyPr/>
          <a:lstStyle/>
          <a:p>
            <a:pPr/>
            <a:r>
              <a:t>Duke University School of Medicine: Orthopaedics Department</a:t>
            </a:r>
          </a:p>
        </p:txBody>
      </p:sp>
      <p:sp>
        <p:nvSpPr>
          <p:cNvPr id="78" name="Text Placeholder 16"/>
          <p:cNvSpPr/>
          <p:nvPr>
            <p:ph type="body" idx="35"/>
          </p:nvPr>
        </p:nvSpPr>
        <p:spPr>
          <a:prstGeom prst="rect">
            <a:avLst/>
          </a:prstGeom>
          <a:extLst>
            <a:ext uri="{C572A759-6A51-4108-AA02-DFA0A04FC94B}">
              <ma14:wrappingTextBoxFlag xmlns:ma14="http://schemas.microsoft.com/office/mac/drawingml/2011/main" val="1"/>
            </a:ext>
          </a:extLst>
        </p:spPr>
        <p:txBody>
          <a:bodyPr/>
          <a:lstStyle/>
          <a:p>
            <a:pPr/>
            <a:r>
              <a:t>Lara Dincer, Ferreira Lab</a:t>
            </a:r>
          </a:p>
        </p:txBody>
      </p:sp>
      <p:sp>
        <p:nvSpPr>
          <p:cNvPr id="79" name="Text Placeholder 17"/>
          <p:cNvSpPr/>
          <p:nvPr>
            <p:ph type="body" idx="36"/>
          </p:nvPr>
        </p:nvSpPr>
        <p:spPr>
          <a:prstGeom prst="rect">
            <a:avLst/>
          </a:prstGeom>
          <a:extLst>
            <a:ext uri="{C572A759-6A51-4108-AA02-DFA0A04FC94B}">
              <ma14:wrappingTextBoxFlag xmlns:ma14="http://schemas.microsoft.com/office/mac/drawingml/2011/main" val="1"/>
            </a:ext>
          </a:extLst>
        </p:spPr>
        <p:txBody>
          <a:bodyPr/>
          <a:lstStyle>
            <a:lvl1pPr defTabSz="182879">
              <a:spcBef>
                <a:spcPts val="0"/>
              </a:spcBef>
              <a:defRPr b="0" sz="5600">
                <a:latin typeface="Times New Roman"/>
                <a:ea typeface="Times New Roman"/>
                <a:cs typeface="Times New Roman"/>
                <a:sym typeface="Times New Roman"/>
              </a:defRPr>
            </a:lvl1pPr>
          </a:lstStyle>
          <a:p>
            <a:pPr/>
            <a:r>
              <a:t>A Novel Approach to Characterizing Mitochondrial Respiration Kinetics: A Proof of Concept Study</a:t>
            </a:r>
          </a:p>
        </p:txBody>
      </p:sp>
      <p:sp>
        <p:nvSpPr>
          <p:cNvPr id="80" name="Mitochondrial respiration is often characterized under steady-state conditions using ADP titrations to measure its capacity at different stages, although the system itself is inherently dynamic. Notable, a saturating amount of ADP simulates Stage 3 respi"/>
          <p:cNvSpPr txBox="1"/>
          <p:nvPr/>
        </p:nvSpPr>
        <p:spPr>
          <a:xfrm>
            <a:off x="607479" y="5759631"/>
            <a:ext cx="9789571" cy="1411985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defTabSz="914400">
              <a:lnSpc>
                <a:spcPct val="110000"/>
              </a:lnSpc>
              <a:defRPr sz="3500">
                <a:latin typeface="Times Roman"/>
                <a:ea typeface="Times Roman"/>
                <a:cs typeface="Times Roman"/>
                <a:sym typeface="Times Roman"/>
              </a:defRPr>
            </a:lvl1pPr>
          </a:lstStyle>
          <a:p>
            <a:pPr/>
            <a:r>
              <a:t>Mitochondrial respiration is often characterized under steady-state conditions using ADP titrations to measure its capacity at different stages, although the system itself is inherently dynamic. Notable, a saturating amount of ADP simulates Stage 3 respiration, characterizing the functional oxidative phosphorylation capacity of the system. In this study, caged ADP is used as an impulse input in combination with high-resolution respirometry to uncover the time-dependent control of oxidative phosphorylation. The ability to simulate ADP addition acutely with isolated mitochondria samples removes the confounding factors of diffusion and allows for measurement of transient increases in oxygen consumption prior to reaching a steady state, which can be compared across samples. Many disease states, such as aging and heart failure, can have preserved maximal capacity but impaired speed and efficiency of the overall system, a phenomenon unrecognizable by current methods. This protocol allows for more precise measurement of mitochondrial function allowing for a better understanding of mitochondrial dysfunction, identifying rate-limiting factors and acute differences in the kinetics across systems.</a:t>
            </a:r>
          </a:p>
        </p:txBody>
      </p:sp>
      <p:pic>
        <p:nvPicPr>
          <p:cNvPr id="81" name="unknown.png" descr="unknown.png"/>
          <p:cNvPicPr>
            <a:picLocks noChangeAspect="1"/>
          </p:cNvPicPr>
          <p:nvPr/>
        </p:nvPicPr>
        <p:blipFill>
          <a:blip r:embed="rId2">
            <a:extLst/>
          </a:blip>
          <a:stretch>
            <a:fillRect/>
          </a:stretch>
        </p:blipFill>
        <p:spPr>
          <a:xfrm>
            <a:off x="11764054" y="23076455"/>
            <a:ext cx="4176896" cy="5279393"/>
          </a:xfrm>
          <a:prstGeom prst="rect">
            <a:avLst/>
          </a:prstGeom>
          <a:ln w="12700">
            <a:miter lim="400000"/>
          </a:ln>
        </p:spPr>
      </p:pic>
      <p:pic>
        <p:nvPicPr>
          <p:cNvPr id="82" name="unknown.png" descr="unknown.png"/>
          <p:cNvPicPr>
            <a:picLocks noChangeAspect="1"/>
          </p:cNvPicPr>
          <p:nvPr/>
        </p:nvPicPr>
        <p:blipFill>
          <a:blip r:embed="rId3">
            <a:extLst/>
          </a:blip>
          <a:srcRect l="12677" t="0" r="0" b="12966"/>
          <a:stretch>
            <a:fillRect/>
          </a:stretch>
        </p:blipFill>
        <p:spPr>
          <a:xfrm>
            <a:off x="16619325" y="23079512"/>
            <a:ext cx="4078921" cy="5273204"/>
          </a:xfrm>
          <a:prstGeom prst="rect">
            <a:avLst/>
          </a:prstGeom>
          <a:ln w="12700">
            <a:miter lim="400000"/>
          </a:ln>
        </p:spPr>
      </p:pic>
      <p:sp>
        <p:nvSpPr>
          <p:cNvPr id="83" name="Text"/>
          <p:cNvSpPr txBox="1"/>
          <p:nvPr/>
        </p:nvSpPr>
        <p:spPr>
          <a:xfrm>
            <a:off x="11589208" y="16206458"/>
            <a:ext cx="142239" cy="2692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200">
                <a:latin typeface="Times Roman"/>
                <a:ea typeface="Times Roman"/>
                <a:cs typeface="Times Roman"/>
                <a:sym typeface="Times Roman"/>
              </a:defRPr>
            </a:lvl1pPr>
          </a:lstStyle>
          <a:p>
            <a:pPr/>
            <a:r>
              <a:t> </a:t>
            </a:r>
          </a:p>
        </p:txBody>
      </p:sp>
      <p:sp>
        <p:nvSpPr>
          <p:cNvPr id="84" name="Text"/>
          <p:cNvSpPr txBox="1"/>
          <p:nvPr/>
        </p:nvSpPr>
        <p:spPr>
          <a:xfrm>
            <a:off x="11716208" y="16333458"/>
            <a:ext cx="142239" cy="2692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defTabSz="457200">
              <a:defRPr sz="1200">
                <a:latin typeface="Times Roman"/>
                <a:ea typeface="Times Roman"/>
                <a:cs typeface="Times Roman"/>
                <a:sym typeface="Times Roman"/>
              </a:defRPr>
            </a:lvl1pPr>
          </a:lstStyle>
          <a:p>
            <a:pPr/>
            <a:r>
              <a:t> </a:t>
            </a:r>
          </a:p>
        </p:txBody>
      </p:sp>
      <p:sp>
        <p:nvSpPr>
          <p:cNvPr id="85" name="Isolated Mitochondria from Liver"/>
          <p:cNvSpPr txBox="1"/>
          <p:nvPr/>
        </p:nvSpPr>
        <p:spPr>
          <a:xfrm>
            <a:off x="12089962" y="28461845"/>
            <a:ext cx="3525077" cy="37274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2000">
                <a:latin typeface="Times New Roman"/>
                <a:ea typeface="Times New Roman"/>
                <a:cs typeface="Times New Roman"/>
                <a:sym typeface="Times New Roman"/>
              </a:defRPr>
            </a:lvl1pPr>
          </a:lstStyle>
          <a:p>
            <a:pPr/>
            <a:r>
              <a:t>Isolated Mitochondria from Liver</a:t>
            </a:r>
          </a:p>
        </p:txBody>
      </p:sp>
      <p:sp>
        <p:nvSpPr>
          <p:cNvPr id="86" name="Isolated Mitochondria from Gastrocnemius"/>
          <p:cNvSpPr txBox="1"/>
          <p:nvPr/>
        </p:nvSpPr>
        <p:spPr>
          <a:xfrm>
            <a:off x="16519396" y="28467925"/>
            <a:ext cx="4278935" cy="36058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900">
                <a:latin typeface="Times New Roman"/>
                <a:ea typeface="Times New Roman"/>
                <a:cs typeface="Times New Roman"/>
                <a:sym typeface="Times New Roman"/>
              </a:defRPr>
            </a:lvl1pPr>
          </a:lstStyle>
          <a:p>
            <a:pPr/>
            <a:r>
              <a:t>Isolated Mitochondria from Gastrocnemius</a:t>
            </a:r>
          </a:p>
        </p:txBody>
      </p:sp>
      <p:sp>
        <p:nvSpPr>
          <p:cNvPr id="87" name="To develop and apply a dynamic method to measure transient mitochondrial respiration kinetics using caged ADP. This is under the hypothesis that acute photo release of ADP will reveal kinetic differences in oxidative phosphorylation across mitochondria"/>
          <p:cNvSpPr txBox="1"/>
          <p:nvPr/>
        </p:nvSpPr>
        <p:spPr>
          <a:xfrm>
            <a:off x="490726" y="21729910"/>
            <a:ext cx="9789571" cy="29717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defTabSz="914400">
              <a:lnSpc>
                <a:spcPct val="110000"/>
              </a:lnSpc>
              <a:defRPr sz="3500">
                <a:latin typeface="Times Roman"/>
                <a:ea typeface="Times Roman"/>
                <a:cs typeface="Times Roman"/>
                <a:sym typeface="Times Roman"/>
              </a:defRPr>
            </a:lvl1pPr>
          </a:lstStyle>
          <a:p>
            <a:pPr/>
            <a:r>
              <a:t>To develop and apply a dynamic method to measure transient mitochondrial respiration kinetics using caged ADP. This is under the hypothesis that acute photo release of ADP will reveal kinetic differences in oxidative phosphorylation across mitochondria</a:t>
            </a:r>
          </a:p>
        </p:txBody>
      </p:sp>
      <p:sp>
        <p:nvSpPr>
          <p:cNvPr id="88" name="High-Resolution Respirometry (Oroboros O2k)…"/>
          <p:cNvSpPr txBox="1"/>
          <p:nvPr/>
        </p:nvSpPr>
        <p:spPr>
          <a:xfrm>
            <a:off x="22391629" y="5885422"/>
            <a:ext cx="10044177" cy="25618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457200" indent="-457200" defTabSz="457200">
              <a:spcBef>
                <a:spcPts val="1200"/>
              </a:spcBef>
              <a:tabLst>
                <a:tab pos="139700" algn="l"/>
                <a:tab pos="457200" algn="l"/>
              </a:tabLst>
              <a:defRPr b="1" sz="3700">
                <a:latin typeface="Times Roman"/>
                <a:ea typeface="Times Roman"/>
                <a:cs typeface="Times Roman"/>
                <a:sym typeface="Times Roman"/>
              </a:defRPr>
            </a:pPr>
            <a:r>
              <a:t>High-Resolution Respirometry (Oroboros O2k)</a:t>
            </a:r>
          </a:p>
          <a:p>
            <a:pPr defTabSz="457200">
              <a:spcBef>
                <a:spcPts val="1200"/>
              </a:spcBef>
              <a:tabLst>
                <a:tab pos="139700" algn="l"/>
                <a:tab pos="457200" algn="l"/>
              </a:tabLst>
              <a:defRPr sz="3500">
                <a:latin typeface="Times Roman"/>
                <a:ea typeface="Times Roman"/>
                <a:cs typeface="Times Roman"/>
                <a:sym typeface="Times Roman"/>
              </a:defRPr>
            </a:pPr>
            <a:r>
              <a:t>Following isolation, mitochondrial samples will be immediately transferred to the Oroboros O2k high-resolution respirometry for assessment of oxygen consumption. Chambers will be calibrated according to the manufacturers specifications and maintained at 37 Degrees Celsius in Respiration Buffer under continual stirring to ensure homogenous distribution of oxygen and substrate. First pyruvate and malate will be added to support Complex I respiration, generating NADH through the TCA cycle, establishing LEAK respiration in the absence of ADP. This will establish basal electron transport activity. Next Caged ADP will be added and given time to fully diffuse throughout the chamber. Upon delivery of controlled UV pulse, ADP will photo release instantaneously, producing an acute and saturating ADP Impulse measuring Stage 3 respiration. The saturated amount will allow for assessment of maximal oxidative phosphorylation capacity, and give Steady State Values of Respiration (as have past experiments) along with more kinetically nuanced data. </a:t>
            </a:r>
          </a:p>
          <a:p>
            <a:pPr marL="457200" indent="-457200" defTabSz="457200">
              <a:spcBef>
                <a:spcPts val="1200"/>
              </a:spcBef>
              <a:tabLst>
                <a:tab pos="139700" algn="l"/>
                <a:tab pos="457200" algn="l"/>
              </a:tabLst>
              <a:defRPr b="1" sz="3700">
                <a:latin typeface="Times Roman"/>
                <a:ea typeface="Times Roman"/>
                <a:cs typeface="Times Roman"/>
                <a:sym typeface="Times Roman"/>
              </a:defRPr>
            </a:pPr>
            <a:r>
              <a:t>Down-Stream Analysis</a:t>
            </a:r>
          </a:p>
          <a:p>
            <a:pPr defTabSz="457200">
              <a:spcBef>
                <a:spcPts val="1200"/>
              </a:spcBef>
              <a:tabLst>
                <a:tab pos="139700" algn="l"/>
                <a:tab pos="457200" algn="l"/>
              </a:tabLst>
              <a:defRPr sz="3700">
                <a:latin typeface="Times Roman"/>
                <a:ea typeface="Times Roman"/>
                <a:cs typeface="Times Roman"/>
                <a:sym typeface="Times Roman"/>
              </a:defRPr>
            </a:pPr>
            <a:r>
              <a:t>Oxygen Flux will be recorded continuously at high resolution. The immediate increase in oxygen consumption following photo release will be further analyzed, as well as various other characteristics of mitochondrial sample, providing insights into:</a:t>
            </a:r>
          </a:p>
          <a:p>
            <a:pPr marL="370972" indent="-370972" defTabSz="457200">
              <a:spcBef>
                <a:spcPts val="1200"/>
              </a:spcBef>
              <a:buSzPct val="100000"/>
              <a:buChar char="•"/>
              <a:tabLst>
                <a:tab pos="139700" algn="l"/>
                <a:tab pos="457200" algn="l"/>
              </a:tabLst>
              <a:defRPr sz="3700">
                <a:latin typeface="Times Roman"/>
                <a:ea typeface="Times Roman"/>
                <a:cs typeface="Times Roman"/>
                <a:sym typeface="Times Roman"/>
              </a:defRPr>
            </a:pPr>
            <a:r>
              <a:t>The Speed of ADP Phosphorylation</a:t>
            </a:r>
          </a:p>
          <a:p>
            <a:pPr marL="370972" indent="-370972" defTabSz="457200">
              <a:spcBef>
                <a:spcPts val="1200"/>
              </a:spcBef>
              <a:buSzPct val="100000"/>
              <a:buChar char="•"/>
              <a:tabLst>
                <a:tab pos="139700" algn="l"/>
                <a:tab pos="457200" algn="l"/>
              </a:tabLst>
              <a:defRPr sz="3700">
                <a:latin typeface="Times Roman"/>
                <a:ea typeface="Times Roman"/>
                <a:cs typeface="Times Roman"/>
                <a:sym typeface="Times Roman"/>
              </a:defRPr>
            </a:pPr>
            <a:r>
              <a:t>Coupling Efficiency of Oxidative Phosphorylation</a:t>
            </a:r>
          </a:p>
          <a:p>
            <a:pPr marL="370972" indent="-370972" defTabSz="457200">
              <a:spcBef>
                <a:spcPts val="1200"/>
              </a:spcBef>
              <a:buSzPct val="100000"/>
              <a:buChar char="•"/>
              <a:tabLst>
                <a:tab pos="139700" algn="l"/>
                <a:tab pos="457200" algn="l"/>
              </a:tabLst>
              <a:defRPr sz="3700">
                <a:latin typeface="Times Roman"/>
                <a:ea typeface="Times Roman"/>
                <a:cs typeface="Times Roman"/>
                <a:sym typeface="Times Roman"/>
              </a:defRPr>
            </a:pPr>
            <a:r>
              <a:t>Potential Kinetic impairments not detectable under steady-state ADP titrations</a:t>
            </a:r>
          </a:p>
          <a:p>
            <a:pPr defTabSz="457200">
              <a:spcBef>
                <a:spcPts val="1200"/>
              </a:spcBef>
              <a:tabLst>
                <a:tab pos="139700" algn="l"/>
                <a:tab pos="457200" algn="l"/>
              </a:tabLst>
              <a:defRPr sz="3700">
                <a:latin typeface="Times Roman"/>
                <a:ea typeface="Times Roman"/>
                <a:cs typeface="Times Roman"/>
                <a:sym typeface="Times Roman"/>
              </a:defRPr>
            </a:pPr>
            <a:r>
              <a:t>Additionally, flux will be normalized to mitochondrial concentration so analysis can be done accurately across samples. Raw data will be exported as .csv files from Datlab and processed via a Python-based analysis workflow, which will later be published on Github. The workflow will include automated baseline detection (and normalization), slope calculation, transient peak identification, and standard O2k respiratory state analysis. </a:t>
            </a:r>
          </a:p>
          <a:p>
            <a:pPr lvl="1" marL="751972" indent="-370972" defTabSz="457200">
              <a:spcBef>
                <a:spcPts val="1200"/>
              </a:spcBef>
              <a:buSzPct val="100000"/>
              <a:buChar char="•"/>
              <a:tabLst>
                <a:tab pos="139700" algn="l"/>
                <a:tab pos="457200" algn="l"/>
              </a:tabLst>
              <a:defRPr sz="3700">
                <a:latin typeface="Times Roman"/>
                <a:ea typeface="Times Roman"/>
                <a:cs typeface="Times Roman"/>
                <a:sym typeface="Times Roman"/>
              </a:defRPr>
            </a:pPr>
          </a:p>
          <a:p>
            <a:pPr defTabSz="457200">
              <a:spcBef>
                <a:spcPts val="1200"/>
              </a:spcBef>
              <a:tabLst>
                <a:tab pos="139700" algn="l"/>
                <a:tab pos="457200" algn="l"/>
              </a:tabLst>
              <a:defRPr sz="3500">
                <a:latin typeface="Times Roman"/>
                <a:ea typeface="Times Roman"/>
                <a:cs typeface="Times Roman"/>
                <a:sym typeface="Times Roman"/>
              </a:defRPr>
            </a:pPr>
          </a:p>
          <a:p>
            <a:pPr defTabSz="457200">
              <a:spcBef>
                <a:spcPts val="1200"/>
              </a:spcBef>
              <a:tabLst>
                <a:tab pos="139700" algn="l"/>
                <a:tab pos="457200" algn="l"/>
              </a:tabLst>
              <a:defRPr sz="3500">
                <a:latin typeface="Times Roman"/>
                <a:ea typeface="Times Roman"/>
                <a:cs typeface="Times Roman"/>
                <a:sym typeface="Times Roman"/>
              </a:defRPr>
            </a:pPr>
            <a:r>
              <a:t> </a:t>
            </a:r>
          </a:p>
        </p:txBody>
      </p:sp>
      <p:sp>
        <p:nvSpPr>
          <p:cNvPr id="89" name="As this proof of concept experiment progresses, the goal is to generate novel kinetic data and interpret it using computational and mathematical modeling approaches. Potential strategies include Michaelis-Menten-type saturation modeling (with peak flux a"/>
          <p:cNvSpPr txBox="1"/>
          <p:nvPr/>
        </p:nvSpPr>
        <p:spPr>
          <a:xfrm>
            <a:off x="33465027" y="5678524"/>
            <a:ext cx="9897548" cy="6492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defTabSz="457200">
              <a:spcBef>
                <a:spcPts val="1200"/>
              </a:spcBef>
              <a:tabLst>
                <a:tab pos="139700" algn="l"/>
                <a:tab pos="457200" algn="l"/>
              </a:tabLst>
              <a:defRPr sz="3500">
                <a:latin typeface="Times Roman"/>
                <a:ea typeface="Times Roman"/>
                <a:cs typeface="Times Roman"/>
                <a:sym typeface="Times Roman"/>
              </a:defRPr>
            </a:lvl1pPr>
          </a:lstStyle>
          <a:p>
            <a:pPr/>
            <a:r>
              <a:t>As this proof of concept experiment progresses, the goal is to generate novel kinetic data and interpret it using computational and mathematical modeling approaches. Potential strategies include Michaelis-Menten-type saturation modeling (with peak flux and ADP availability), First-Order and Multi-Exponential Kinetic Fitting, Ordinary Differential Equation based modeling, etc. Overall, analysis will allow for quantification of kinetic control of the mitochondria and detection of impairments or differences across samples that may not be observable under steady-state conditions.</a:t>
            </a:r>
          </a:p>
        </p:txBody>
      </p:sp>
      <p:sp>
        <p:nvSpPr>
          <p:cNvPr id="90" name="Mitochondrial Oxidative Phosphorylation is inherently dynamic and the traditional Steady-State ADP titration methods solely assess maximal capacity, and ignore system kinematics.…"/>
          <p:cNvSpPr txBox="1"/>
          <p:nvPr/>
        </p:nvSpPr>
        <p:spPr>
          <a:xfrm>
            <a:off x="33613566" y="13211920"/>
            <a:ext cx="9897549" cy="11369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350920" indent="-350920" defTabSz="457200">
              <a:spcBef>
                <a:spcPts val="1200"/>
              </a:spcBef>
              <a:buSzPct val="100000"/>
              <a:buChar char="•"/>
              <a:tabLst>
                <a:tab pos="139700" algn="l"/>
                <a:tab pos="457200" algn="l"/>
              </a:tabLst>
              <a:defRPr sz="3500">
                <a:latin typeface="Times Roman"/>
                <a:ea typeface="Times Roman"/>
                <a:cs typeface="Times Roman"/>
                <a:sym typeface="Times Roman"/>
              </a:defRPr>
            </a:pPr>
            <a:r>
              <a:t>Mitochondrial Oxidative Phosphorylation is inherently dynamic and the traditional Steady-State ADP titration methods solely assess maximal capacity, and ignore system kinematics.</a:t>
            </a:r>
          </a:p>
          <a:p>
            <a:pPr marL="350920" indent="-350920" defTabSz="457200">
              <a:spcBef>
                <a:spcPts val="1200"/>
              </a:spcBef>
              <a:buSzPct val="100000"/>
              <a:buChar char="•"/>
              <a:tabLst>
                <a:tab pos="139700" algn="l"/>
                <a:tab pos="457200" algn="l"/>
              </a:tabLst>
              <a:defRPr sz="3500">
                <a:latin typeface="Times Roman"/>
                <a:ea typeface="Times Roman"/>
                <a:cs typeface="Times Roman"/>
                <a:sym typeface="Times Roman"/>
              </a:defRPr>
            </a:pPr>
            <a:r>
              <a:t>Acute Photo-release of caged ADP combined with high-resolution respirometry provides a controlled acute impulse input that enables direct measurement of transient respiratory kinetic responses.</a:t>
            </a:r>
          </a:p>
          <a:p>
            <a:pPr marL="350920" indent="-350920" defTabSz="457200">
              <a:spcBef>
                <a:spcPts val="1200"/>
              </a:spcBef>
              <a:buSzPct val="100000"/>
              <a:buChar char="•"/>
              <a:tabLst>
                <a:tab pos="139700" algn="l"/>
                <a:tab pos="457200" algn="l"/>
              </a:tabLst>
              <a:defRPr sz="3500">
                <a:latin typeface="Times Roman"/>
                <a:ea typeface="Times Roman"/>
                <a:cs typeface="Times Roman"/>
                <a:sym typeface="Times Roman"/>
              </a:defRPr>
            </a:pPr>
            <a:r>
              <a:t>The approach will allow for quantification of kinetic parameters, such as time to peak respiration, rate of activation, etc —not captured by current protocols.</a:t>
            </a:r>
          </a:p>
          <a:p>
            <a:pPr marL="350920" indent="-350920" defTabSz="457200">
              <a:spcBef>
                <a:spcPts val="1200"/>
              </a:spcBef>
              <a:buSzPct val="100000"/>
              <a:buChar char="•"/>
              <a:tabLst>
                <a:tab pos="139700" algn="l"/>
                <a:tab pos="457200" algn="l"/>
              </a:tabLst>
              <a:defRPr sz="3500">
                <a:latin typeface="Times Roman"/>
                <a:ea typeface="Times Roman"/>
                <a:cs typeface="Times Roman"/>
                <a:sym typeface="Times Roman"/>
              </a:defRPr>
            </a:pPr>
            <a:r>
              <a:t>Disease states such as aging and heart failure may preserve maximal oxidative capacity while exhibiting impaired responsiveness or reduced efficiency, which Steady-State Measurements cannot resolve.</a:t>
            </a:r>
          </a:p>
          <a:p>
            <a:pPr defTabSz="457200">
              <a:spcBef>
                <a:spcPts val="1200"/>
              </a:spcBef>
              <a:tabLst>
                <a:tab pos="139700" algn="l"/>
                <a:tab pos="457200" algn="l"/>
              </a:tabLst>
              <a:defRPr sz="3500">
                <a:latin typeface="Times Roman"/>
                <a:ea typeface="Times Roman"/>
                <a:cs typeface="Times Roman"/>
                <a:sym typeface="Times Roman"/>
              </a:defRPr>
            </a:pPr>
            <a:r>
              <a:t>Overall, this protocol establishes a framework for dynamic assessment of mitochondrial function, with improved sensitivity and more nuanced data on mitochondrial kinetics</a:t>
            </a:r>
          </a:p>
        </p:txBody>
      </p:sp>
      <p:sp>
        <p:nvSpPr>
          <p:cNvPr id="91" name="[1] Ferguson, E. J., Bureau, J., Stokes, T., Nyman, D., Seigel, J., Gandhi, S., Delfinis, L. J., Gurd, B. J., Perry, C. G. R., &amp; McGlory, C. (2024). Quantifying variability associated with high-resolution respirometry in human permeabilized skeletal musc"/>
          <p:cNvSpPr txBox="1"/>
          <p:nvPr/>
        </p:nvSpPr>
        <p:spPr>
          <a:xfrm>
            <a:off x="33121872" y="25622114"/>
            <a:ext cx="10219256" cy="6403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200">
                <a:latin typeface="Times Roman"/>
                <a:ea typeface="Times Roman"/>
                <a:cs typeface="Times Roman"/>
                <a:sym typeface="Times Roman"/>
              </a:defRPr>
            </a:pPr>
          </a:p>
          <a:p>
            <a:pPr defTabSz="457200">
              <a:defRPr sz="1800">
                <a:latin typeface="Times Roman"/>
                <a:ea typeface="Times Roman"/>
                <a:cs typeface="Times Roman"/>
                <a:sym typeface="Times Roman"/>
              </a:defRPr>
            </a:pPr>
            <a:r>
              <a:t>[1] Ferguson, E. J., Bureau, J., Stokes, T., Nyman, D., Seigel, J., Gandhi, S., Delfinis, L. J., Gurd, B. J., Perry, C. G. R., &amp; McGlory, C. (2024). Quantifying variability associated with high-resolution respirometry in human permeabilized skeletal muscle fibers. Advanced Exercise and Health Science, 1(3), 170–177. </a:t>
            </a:r>
            <a:r>
              <a:rPr u="sng">
                <a:solidFill>
                  <a:srgbClr val="0000FF"/>
                </a:solidFill>
                <a:uFill>
                  <a:solidFill>
                    <a:srgbClr val="0000FF"/>
                  </a:solidFill>
                </a:uFill>
                <a:hlinkClick r:id="rId4" invalidUrl="" action="" tgtFrame="" tooltip="" history="1" highlightClick="0" endSnd="0"/>
              </a:rPr>
              <a:t>https://doi.org/10.1016/j.aehs.2024.05.006</a:t>
            </a:r>
          </a:p>
          <a:p>
            <a:pPr defTabSz="457200">
              <a:defRPr sz="1800">
                <a:latin typeface="Times Roman"/>
                <a:ea typeface="Times Roman"/>
                <a:cs typeface="Times Roman"/>
                <a:sym typeface="Times Roman"/>
              </a:defRPr>
            </a:pPr>
            <a:r>
              <a:t>Jedlička, J., Tůma, Z., Razak, K., Kunc, R., Kala, A., Proskauer Pena, S., Lerchner, T., Ježek, K., &amp; Kuncová, J. (2022). </a:t>
            </a:r>
          </a:p>
          <a:p>
            <a:pPr defTabSz="457200">
              <a:defRPr sz="1800">
                <a:latin typeface="Times Roman"/>
                <a:ea typeface="Times Roman"/>
                <a:cs typeface="Times Roman"/>
                <a:sym typeface="Times Roman"/>
              </a:defRPr>
            </a:pPr>
            <a:r>
              <a:t>[2] Impact of aging on mitochondrial respiration in various organs. Physiological Research, 71(S2), S227–S236. </a:t>
            </a:r>
            <a:r>
              <a:rPr u="sng">
                <a:solidFill>
                  <a:srgbClr val="0000FF"/>
                </a:solidFill>
                <a:uFill>
                  <a:solidFill>
                    <a:srgbClr val="0000FF"/>
                  </a:solidFill>
                </a:uFill>
                <a:hlinkClick r:id="rId5" invalidUrl="" action="" tgtFrame="" tooltip="" history="1" highlightClick="0" endSnd="0"/>
              </a:rPr>
              <a:t>https://doi.org/10.33549/physiolres.934995</a:t>
            </a:r>
          </a:p>
          <a:p>
            <a:pPr defTabSz="457200">
              <a:defRPr sz="1800">
                <a:latin typeface="Times Roman"/>
                <a:ea typeface="Times Roman"/>
                <a:cs typeface="Times Roman"/>
                <a:sym typeface="Times Roman"/>
              </a:defRPr>
            </a:pPr>
            <a:r>
              <a:t>[3] Siasos, G., Tsigkou, V., Kosmopoulos, M., Theodosiadis, D., Simantiris, S., Tagkou, N. M., Tsimpiktsioglou, A., Stampouloglou, P. K., Oikonomou, E., Mourouzis, K., Philippou, A., Vavuranakis, M., Stefanadis, C., Tousoulis, D., &amp; Papavassiliou, A. G. (2018). Mitochondria and cardiovascular diseases—From pathophysiology to treatment. Annals of Translational Medicine, 6(12), 256. </a:t>
            </a:r>
            <a:r>
              <a:rPr u="sng">
                <a:solidFill>
                  <a:srgbClr val="0000FF"/>
                </a:solidFill>
                <a:uFill>
                  <a:solidFill>
                    <a:srgbClr val="0000FF"/>
                  </a:solidFill>
                </a:uFill>
                <a:hlinkClick r:id="rId6" invalidUrl="" action="" tgtFrame="" tooltip="" history="1" highlightClick="0" endSnd="0"/>
              </a:rPr>
              <a:t>https://doi.org/10.21037/atm.2018.06.21</a:t>
            </a:r>
          </a:p>
          <a:p>
            <a:pPr defTabSz="457200">
              <a:defRPr sz="1800">
                <a:latin typeface="Times Roman"/>
                <a:ea typeface="Times Roman"/>
                <a:cs typeface="Times Roman"/>
                <a:sym typeface="Times Roman"/>
              </a:defRPr>
            </a:pPr>
            <a:r>
              <a:t>[4] Walsh, M. A., Musci, R. V., Jacobs, R. A., &amp; Hamilton, K. L. (2023). A practical perspective on how to develop, implement, execute, and reproduce high-resolution respirometry experiments: The physiologist's guide to an Oroboros O2k. FASEB journal : official publication of the Federation of American Societies for Experimental Biology, 37(12), e23280. </a:t>
            </a:r>
            <a:r>
              <a:rPr u="sng">
                <a:solidFill>
                  <a:srgbClr val="0000FF"/>
                </a:solidFill>
                <a:uFill>
                  <a:solidFill>
                    <a:srgbClr val="0000FF"/>
                  </a:solidFill>
                </a:uFill>
                <a:hlinkClick r:id="rId7" invalidUrl="" action="" tgtFrame="" tooltip="" history="1" highlightClick="0" endSnd="0"/>
              </a:rPr>
              <a:t>https://doi.org/10.1096/fj.202301644RR</a:t>
            </a:r>
          </a:p>
          <a:p>
            <a:pPr defTabSz="457200">
              <a:defRPr sz="1800">
                <a:latin typeface="Times Roman"/>
                <a:ea typeface="Times Roman"/>
                <a:cs typeface="Times Roman"/>
                <a:sym typeface="Times Roman"/>
              </a:defRPr>
            </a:pPr>
            <a:r>
              <a:t>[5] Tomczak, J.M. and Węglarz-Tomczak, E. (2019), Estimating kinetic constants in the Michaelis–Menten model from one enzymatic assay using Approximate Bayesian Computation. FEBS Lett, 593: 2742-2750. </a:t>
            </a:r>
            <a:r>
              <a:rPr u="sng">
                <a:solidFill>
                  <a:srgbClr val="0000FF"/>
                </a:solidFill>
                <a:uFill>
                  <a:solidFill>
                    <a:srgbClr val="0000FF"/>
                  </a:solidFill>
                </a:uFill>
                <a:hlinkClick r:id="rId8" invalidUrl="" action="" tgtFrame="" tooltip="" history="1" highlightClick="0" endSnd="0"/>
              </a:rPr>
              <a:t>https://doi.org/10.1002/1873-3468.13531</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x48-Template">
  <a:themeElements>
    <a:clrScheme name="36x48-Templat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36x48-Template">
      <a:majorFont>
        <a:latin typeface="Calibri"/>
        <a:ea typeface="Calibri"/>
        <a:cs typeface="Calibri"/>
      </a:majorFont>
      <a:minorFont>
        <a:latin typeface="Helvetica"/>
        <a:ea typeface="Helvetica"/>
        <a:cs typeface="Helvetica"/>
      </a:minorFont>
    </a:fontScheme>
    <a:fmtScheme name="36x48-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x48-Template">
  <a:themeElements>
    <a:clrScheme name="36x48-Templat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36x48-Template">
      <a:majorFont>
        <a:latin typeface="Calibri"/>
        <a:ea typeface="Calibri"/>
        <a:cs typeface="Calibri"/>
      </a:majorFont>
      <a:minorFont>
        <a:latin typeface="Helvetica"/>
        <a:ea typeface="Helvetica"/>
        <a:cs typeface="Helvetica"/>
      </a:minorFont>
    </a:fontScheme>
    <a:fmtScheme name="36x48-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388899" rtl="0" fontAlgn="auto" latinLnBrk="0" hangingPunct="0">
          <a:lnSpc>
            <a:spcPct val="100000"/>
          </a:lnSpc>
          <a:spcBef>
            <a:spcPts val="0"/>
          </a:spcBef>
          <a:spcAft>
            <a:spcPts val="0"/>
          </a:spcAft>
          <a:buClrTx/>
          <a:buSzTx/>
          <a:buFontTx/>
          <a:buNone/>
          <a:tabLst/>
          <a:defRPr b="0" baseline="0" cap="none" i="0" spc="0" strike="noStrike" sz="86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